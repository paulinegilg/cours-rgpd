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45.xml"/>
  <Override ContentType="application/vnd.openxmlformats-officedocument.presentationml.notesSlide+xml" PartName="/ppt/notesSlides/notesSlide3.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43.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slide" Target="slides/slide41.xml"/><Relationship Id="rId45" Type="http://schemas.openxmlformats.org/officeDocument/2006/relationships/slide" Target="slides/slide40.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slide" Target="slides/slide43.xml"/><Relationship Id="rId47" Type="http://schemas.openxmlformats.org/officeDocument/2006/relationships/slide" Target="slides/slide42.xml"/><Relationship Id="rId49" Type="http://schemas.openxmlformats.org/officeDocument/2006/relationships/slide" Target="slides/slide4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51" Type="http://schemas.openxmlformats.org/officeDocument/2006/relationships/slide" Target="slides/slide46.xml"/><Relationship Id="rId50" Type="http://schemas.openxmlformats.org/officeDocument/2006/relationships/slide" Target="slides/slide45.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1034204efbe_0_2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1034204efbe_0_2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g1034204efbe_0_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 name="Google Shape;65;g1034204efbe_0_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g1034204efbe_0_1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 name="Google Shape;71;g1034204efbe_0_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g1034204efbe_0_3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 name="Google Shape;77;g1034204efbe_0_3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 name="Shape 82"/>
        <p:cNvGrpSpPr/>
        <p:nvPr/>
      </p:nvGrpSpPr>
      <p:grpSpPr>
        <a:xfrm>
          <a:off x="0" y="0"/>
          <a:ext cx="0" cy="0"/>
          <a:chOff x="0" y="0"/>
          <a:chExt cx="0" cy="0"/>
        </a:xfrm>
      </p:grpSpPr>
      <p:sp>
        <p:nvSpPr>
          <p:cNvPr id="83" name="Google Shape;83;g1034204efbe_0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4" name="Google Shape;84;g1034204efbe_0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 name="Shape 89"/>
        <p:cNvGrpSpPr/>
        <p:nvPr/>
      </p:nvGrpSpPr>
      <p:grpSpPr>
        <a:xfrm>
          <a:off x="0" y="0"/>
          <a:ext cx="0" cy="0"/>
          <a:chOff x="0" y="0"/>
          <a:chExt cx="0" cy="0"/>
        </a:xfrm>
      </p:grpSpPr>
      <p:sp>
        <p:nvSpPr>
          <p:cNvPr id="90" name="Google Shape;90;g1034204efbe_0_1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1" name="Google Shape;91;g1034204efbe_0_1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1034204efbe_0_1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1034204efbe_0_1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1034204efbe_0_1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1034204efbe_0_1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1034204efbe_0_1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1034204efbe_0_1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1034204efbe_0_1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1034204efbe_0_1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1034204efbe_0_1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1034204efbe_0_1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1034204efbe_0_2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1034204efbe_0_2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1034204efbe_0_1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1034204efbe_0_1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8" name="Shape 138"/>
        <p:cNvGrpSpPr/>
        <p:nvPr/>
      </p:nvGrpSpPr>
      <p:grpSpPr>
        <a:xfrm>
          <a:off x="0" y="0"/>
          <a:ext cx="0" cy="0"/>
          <a:chOff x="0" y="0"/>
          <a:chExt cx="0" cy="0"/>
        </a:xfrm>
      </p:grpSpPr>
      <p:sp>
        <p:nvSpPr>
          <p:cNvPr id="139" name="Google Shape;139;g1034204efbe_0_1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0" name="Google Shape;140;g1034204efbe_0_1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1034204efbe_0_15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1034204efbe_0_1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 name="Shape 151"/>
        <p:cNvGrpSpPr/>
        <p:nvPr/>
      </p:nvGrpSpPr>
      <p:grpSpPr>
        <a:xfrm>
          <a:off x="0" y="0"/>
          <a:ext cx="0" cy="0"/>
          <a:chOff x="0" y="0"/>
          <a:chExt cx="0" cy="0"/>
        </a:xfrm>
      </p:grpSpPr>
      <p:sp>
        <p:nvSpPr>
          <p:cNvPr id="152" name="Google Shape;152;g1034204efbe_0_1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3" name="Google Shape;153;g1034204efbe_0_1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7" name="Shape 157"/>
        <p:cNvGrpSpPr/>
        <p:nvPr/>
      </p:nvGrpSpPr>
      <p:grpSpPr>
        <a:xfrm>
          <a:off x="0" y="0"/>
          <a:ext cx="0" cy="0"/>
          <a:chOff x="0" y="0"/>
          <a:chExt cx="0" cy="0"/>
        </a:xfrm>
      </p:grpSpPr>
      <p:sp>
        <p:nvSpPr>
          <p:cNvPr id="158" name="Google Shape;158;g1034204efbe_0_1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9" name="Google Shape;159;g1034204efbe_0_1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3" name="Shape 163"/>
        <p:cNvGrpSpPr/>
        <p:nvPr/>
      </p:nvGrpSpPr>
      <p:grpSpPr>
        <a:xfrm>
          <a:off x="0" y="0"/>
          <a:ext cx="0" cy="0"/>
          <a:chOff x="0" y="0"/>
          <a:chExt cx="0" cy="0"/>
        </a:xfrm>
      </p:grpSpPr>
      <p:sp>
        <p:nvSpPr>
          <p:cNvPr id="164" name="Google Shape;164;g1034204efbe_0_3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5" name="Google Shape;165;g1034204efbe_0_3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1034204efbe_0_3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1" name="Google Shape;171;g1034204efbe_0_3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g1034204efbe_0_3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8" name="Google Shape;178;g1034204efbe_0_3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g1034204efbe_0_3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 name="Google Shape;185;g1034204efbe_0_3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g1034204efbe_0_3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 name="Google Shape;191;g1034204efbe_0_3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1034204efbe_0_3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1034204efbe_0_3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g1034204efbe_0_3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3" name="Google Shape;203;g1034204efbe_0_3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1034204efbe_0_3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0" name="Google Shape;210;g1034204efbe_0_3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4" name="Shape 214"/>
        <p:cNvGrpSpPr/>
        <p:nvPr/>
      </p:nvGrpSpPr>
      <p:grpSpPr>
        <a:xfrm>
          <a:off x="0" y="0"/>
          <a:ext cx="0" cy="0"/>
          <a:chOff x="0" y="0"/>
          <a:chExt cx="0" cy="0"/>
        </a:xfrm>
      </p:grpSpPr>
      <p:sp>
        <p:nvSpPr>
          <p:cNvPr id="215" name="Google Shape;215;g1034204efbe_0_3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6" name="Google Shape;216;g1034204efbe_0_3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1034204efbe_0_2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2" name="Google Shape;222;g1034204efbe_0_2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1034204efbe_0_2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8" name="Google Shape;228;g1034204efbe_0_2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2" name="Shape 232"/>
        <p:cNvGrpSpPr/>
        <p:nvPr/>
      </p:nvGrpSpPr>
      <p:grpSpPr>
        <a:xfrm>
          <a:off x="0" y="0"/>
          <a:ext cx="0" cy="0"/>
          <a:chOff x="0" y="0"/>
          <a:chExt cx="0" cy="0"/>
        </a:xfrm>
      </p:grpSpPr>
      <p:sp>
        <p:nvSpPr>
          <p:cNvPr id="233" name="Google Shape;233;g1034204efbe_0_2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4" name="Google Shape;234;g1034204efbe_0_2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1034204efbe_0_2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0" name="Google Shape;240;g1034204efbe_0_2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1034204efbe_0_4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6" name="Google Shape;246;g1034204efbe_0_4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g1034204efbe_0_2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2" name="Google Shape;252;g1034204efbe_0_2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g1034204efbe_0_2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8" name="Google Shape;258;g1034204efbe_0_2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g1034204efbe_0_2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5" name="Google Shape;265;g1034204efbe_0_2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9" name="Shape 269"/>
        <p:cNvGrpSpPr/>
        <p:nvPr/>
      </p:nvGrpSpPr>
      <p:grpSpPr>
        <a:xfrm>
          <a:off x="0" y="0"/>
          <a:ext cx="0" cy="0"/>
          <a:chOff x="0" y="0"/>
          <a:chExt cx="0" cy="0"/>
        </a:xfrm>
      </p:grpSpPr>
      <p:sp>
        <p:nvSpPr>
          <p:cNvPr id="270" name="Google Shape;270;g1034204efbe_0_2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1" name="Google Shape;271;g1034204efbe_0_2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5" name="Shape 275"/>
        <p:cNvGrpSpPr/>
        <p:nvPr/>
      </p:nvGrpSpPr>
      <p:grpSpPr>
        <a:xfrm>
          <a:off x="0" y="0"/>
          <a:ext cx="0" cy="0"/>
          <a:chOff x="0" y="0"/>
          <a:chExt cx="0" cy="0"/>
        </a:xfrm>
      </p:grpSpPr>
      <p:sp>
        <p:nvSpPr>
          <p:cNvPr id="276" name="Google Shape;276;g1034204efbe_0_4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7" name="Google Shape;277;g1034204efbe_0_4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g1034204efbe_0_3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3" name="Google Shape;283;g1034204efbe_0_3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g1034204efbe_0_4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9" name="Google Shape;289;g1034204efbe_0_4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3" name="Shape 293"/>
        <p:cNvGrpSpPr/>
        <p:nvPr/>
      </p:nvGrpSpPr>
      <p:grpSpPr>
        <a:xfrm>
          <a:off x="0" y="0"/>
          <a:ext cx="0" cy="0"/>
          <a:chOff x="0" y="0"/>
          <a:chExt cx="0" cy="0"/>
        </a:xfrm>
      </p:grpSpPr>
      <p:sp>
        <p:nvSpPr>
          <p:cNvPr id="294" name="Google Shape;294;g1034204efbe_0_4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5" name="Google Shape;295;g1034204efbe_0_4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g1034204efbe_0_4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1" name="Google Shape;301;g1034204efbe_0_4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g1034204efbe_0_4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7" name="Google Shape;307;g1034204efbe_0_4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1" name="Shape 311"/>
        <p:cNvGrpSpPr/>
        <p:nvPr/>
      </p:nvGrpSpPr>
      <p:grpSpPr>
        <a:xfrm>
          <a:off x="0" y="0"/>
          <a:ext cx="0" cy="0"/>
          <a:chOff x="0" y="0"/>
          <a:chExt cx="0" cy="0"/>
        </a:xfrm>
      </p:grpSpPr>
      <p:sp>
        <p:nvSpPr>
          <p:cNvPr id="312" name="Google Shape;312;g1034204efbe_0_4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3" name="Google Shape;313;g1034204efbe_0_4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g1034204efbe_0_4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9" name="Google Shape;319;g1034204efbe_0_4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g1034204efbe_0_4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5" name="Google Shape;325;g1034204efbe_0_4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0" name="Shape 330"/>
        <p:cNvGrpSpPr/>
        <p:nvPr/>
      </p:nvGrpSpPr>
      <p:grpSpPr>
        <a:xfrm>
          <a:off x="0" y="0"/>
          <a:ext cx="0" cy="0"/>
          <a:chOff x="0" y="0"/>
          <a:chExt cx="0" cy="0"/>
        </a:xfrm>
      </p:grpSpPr>
      <p:sp>
        <p:nvSpPr>
          <p:cNvPr id="331" name="Google Shape;331;g1034204efbe_0_4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2" name="Google Shape;332;g1034204efbe_0_4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fr"/>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6.png"/><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hyperlink" Target="https://www.ina.fr/ina-eclaire-actu/video/cab7600764601/informatique-et-liberte"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hyperlink" Target="http://www.youtube.com/watch?v=KZI9PRg32Pg" TargetMode="External"/><Relationship Id="rId4" Type="http://schemas.openxmlformats.org/officeDocument/2006/relationships/image" Target="../media/image13.jpg"/><Relationship Id="rId5" Type="http://schemas.openxmlformats.org/officeDocument/2006/relationships/hyperlink" Target="https://www.youtube.com/watch?v=KZI9PRg32Pg" TargetMode="Externa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hyperlink" Target="https://www.youtube.com/watch?v=Th-rzrc3488" TargetMode="External"/><Relationship Id="rId4" Type="http://schemas.openxmlformats.org/officeDocument/2006/relationships/hyperlink" Target="http://www.youtube.com/watch?v=Th-rzrc3488" TargetMode="External"/><Relationship Id="rId5" Type="http://schemas.openxmlformats.org/officeDocument/2006/relationships/image" Target="../media/image5.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7.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hyperlink" Target="mailto:jean.dupont@entreprise.fr" TargetMode="Externa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5.xml"/><Relationship Id="rId3" Type="http://schemas.openxmlformats.org/officeDocument/2006/relationships/image" Target="../media/image10.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6.xml"/><Relationship Id="rId3" Type="http://schemas.openxmlformats.org/officeDocument/2006/relationships/hyperlink" Target="https://lstu.fr/cours-rgpd-22112021" TargetMode="External"/><Relationship Id="rId4" Type="http://schemas.openxmlformats.org/officeDocument/2006/relationships/image" Target="../media/image14.png"/><Relationship Id="rId5" Type="http://schemas.openxmlformats.org/officeDocument/2006/relationships/image" Target="../media/image1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fr"/>
              <a:t>Gérer un projet Web en conformité avec le RGPD</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fr"/>
              <a:t>Pauline Gilg</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61" name="Google Shape;61;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62" name="Google Shape;62;p14"/>
          <p:cNvPicPr preferRelativeResize="0"/>
          <p:nvPr/>
        </p:nvPicPr>
        <p:blipFill>
          <a:blip r:embed="rId3">
            <a:alphaModFix/>
          </a:blip>
          <a:stretch>
            <a:fillRect/>
          </a:stretch>
        </p:blipFill>
        <p:spPr>
          <a:xfrm>
            <a:off x="2379662" y="817888"/>
            <a:ext cx="4384678" cy="35077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Le programme du cours</a:t>
            </a:r>
            <a:endParaRPr/>
          </a:p>
        </p:txBody>
      </p:sp>
      <p:sp>
        <p:nvSpPr>
          <p:cNvPr id="68" name="Google Shape;68;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Clr>
                <a:schemeClr val="dk1"/>
              </a:buClr>
              <a:buSzPts val="1100"/>
              <a:buFont typeface="Arial"/>
              <a:buNone/>
            </a:pPr>
            <a:r>
              <a:rPr b="1" lang="fr">
                <a:solidFill>
                  <a:srgbClr val="9900FF"/>
                </a:solidFill>
              </a:rPr>
              <a:t>Cours 1 - lundi 22 novembre (2h)</a:t>
            </a:r>
            <a:endParaRPr b="1">
              <a:solidFill>
                <a:srgbClr val="9900FF"/>
              </a:solidFill>
            </a:endParaRPr>
          </a:p>
          <a:p>
            <a:pPr indent="0" lvl="0" marL="0" rtl="0" algn="l">
              <a:spcBef>
                <a:spcPts val="1200"/>
              </a:spcBef>
              <a:spcAft>
                <a:spcPts val="0"/>
              </a:spcAft>
              <a:buNone/>
            </a:pPr>
            <a:r>
              <a:rPr lang="fr">
                <a:solidFill>
                  <a:srgbClr val="9900FF"/>
                </a:solidFill>
              </a:rPr>
              <a:t>Introduction au RGPD (théorie)</a:t>
            </a:r>
            <a:endParaRPr>
              <a:solidFill>
                <a:srgbClr val="9900FF"/>
              </a:solidFill>
            </a:endParaRPr>
          </a:p>
          <a:p>
            <a:pPr indent="0" lvl="0" marL="0" rtl="0" algn="l">
              <a:spcBef>
                <a:spcPts val="1200"/>
              </a:spcBef>
              <a:spcAft>
                <a:spcPts val="0"/>
              </a:spcAft>
              <a:buClr>
                <a:schemeClr val="dk1"/>
              </a:buClr>
              <a:buSzPts val="1100"/>
              <a:buFont typeface="Arial"/>
              <a:buNone/>
            </a:pPr>
            <a:r>
              <a:rPr b="1" lang="fr"/>
              <a:t>Cours 2 - mardi 23 novembre (1h)</a:t>
            </a:r>
            <a:endParaRPr b="1"/>
          </a:p>
          <a:p>
            <a:pPr indent="0" lvl="0" marL="0" rtl="0" algn="l">
              <a:spcBef>
                <a:spcPts val="1200"/>
              </a:spcBef>
              <a:spcAft>
                <a:spcPts val="0"/>
              </a:spcAft>
              <a:buClr>
                <a:schemeClr val="dk1"/>
              </a:buClr>
              <a:buSzPts val="1100"/>
              <a:buFont typeface="Arial"/>
              <a:buNone/>
            </a:pPr>
            <a:r>
              <a:rPr lang="fr"/>
              <a:t>Grands principes de la protection des données (théorie)</a:t>
            </a:r>
            <a:endParaRPr/>
          </a:p>
          <a:p>
            <a:pPr indent="0" lvl="0" marL="0" rtl="0" algn="l">
              <a:spcBef>
                <a:spcPts val="1200"/>
              </a:spcBef>
              <a:spcAft>
                <a:spcPts val="0"/>
              </a:spcAft>
              <a:buClr>
                <a:schemeClr val="dk1"/>
              </a:buClr>
              <a:buSzPts val="1100"/>
              <a:buFont typeface="Arial"/>
              <a:buNone/>
            </a:pPr>
            <a:r>
              <a:rPr b="1" lang="fr"/>
              <a:t>Cours 3 - lundi 29 novembre (1h)</a:t>
            </a:r>
            <a:endParaRPr b="1"/>
          </a:p>
          <a:p>
            <a:pPr indent="0" lvl="0" marL="0" rtl="0" algn="l">
              <a:spcBef>
                <a:spcPts val="1200"/>
              </a:spcBef>
              <a:spcAft>
                <a:spcPts val="0"/>
              </a:spcAft>
              <a:buClr>
                <a:schemeClr val="dk1"/>
              </a:buClr>
              <a:buSzPts val="1100"/>
              <a:buFont typeface="Arial"/>
              <a:buNone/>
            </a:pPr>
            <a:r>
              <a:rPr lang="fr"/>
              <a:t>Gérer un projet Web en conformité avec le RGPD (pratique)</a:t>
            </a:r>
            <a:endParaRPr/>
          </a:p>
          <a:p>
            <a:pPr indent="0" lvl="0" marL="0" rtl="0" algn="l">
              <a:spcBef>
                <a:spcPts val="1200"/>
              </a:spcBef>
              <a:spcAft>
                <a:spcPts val="0"/>
              </a:spcAft>
              <a:buClr>
                <a:schemeClr val="dk1"/>
              </a:buClr>
              <a:buSzPts val="1100"/>
              <a:buFont typeface="Arial"/>
              <a:buNone/>
            </a:pPr>
            <a:r>
              <a:rPr b="1" lang="fr"/>
              <a:t>Cours 4 - mardi 30 novembre (2h)</a:t>
            </a:r>
            <a:endParaRPr b="1"/>
          </a:p>
          <a:p>
            <a:pPr indent="0" lvl="0" marL="0" rtl="0" algn="l">
              <a:spcBef>
                <a:spcPts val="1200"/>
              </a:spcBef>
              <a:spcAft>
                <a:spcPts val="1200"/>
              </a:spcAft>
              <a:buNone/>
            </a:pPr>
            <a:r>
              <a:rPr lang="fr"/>
              <a:t>Gérer un projet Web en conformité avec le RGPD (pratique)</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 name="Shape 72"/>
        <p:cNvGrpSpPr/>
        <p:nvPr/>
      </p:nvGrpSpPr>
      <p:grpSpPr>
        <a:xfrm>
          <a:off x="0" y="0"/>
          <a:ext cx="0" cy="0"/>
          <a:chOff x="0" y="0"/>
          <a:chExt cx="0" cy="0"/>
        </a:xfrm>
      </p:grpSpPr>
      <p:sp>
        <p:nvSpPr>
          <p:cNvPr id="73" name="Google Shape;73;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fr">
                <a:solidFill>
                  <a:srgbClr val="9900FF"/>
                </a:solidFill>
              </a:rPr>
              <a:t>Cours 1 - lundi 22 novembre (2h)</a:t>
            </a:r>
            <a:endParaRPr>
              <a:solidFill>
                <a:srgbClr val="9900FF"/>
              </a:solidFill>
            </a:endParaRPr>
          </a:p>
          <a:p>
            <a:pPr indent="0" lvl="0" marL="0" rtl="0" algn="l">
              <a:spcBef>
                <a:spcPts val="0"/>
              </a:spcBef>
              <a:spcAft>
                <a:spcPts val="0"/>
              </a:spcAft>
              <a:buNone/>
            </a:pPr>
            <a:r>
              <a:t/>
            </a:r>
            <a:endParaRPr/>
          </a:p>
        </p:txBody>
      </p:sp>
      <p:sp>
        <p:nvSpPr>
          <p:cNvPr id="74" name="Google Shape;74;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b="1" lang="fr">
                <a:solidFill>
                  <a:srgbClr val="9900FF"/>
                </a:solidFill>
              </a:rPr>
              <a:t>Introduction au RGPD</a:t>
            </a:r>
            <a:endParaRPr b="1">
              <a:solidFill>
                <a:srgbClr val="9900FF"/>
              </a:solidFill>
            </a:endParaRPr>
          </a:p>
          <a:p>
            <a:pPr indent="0" lvl="0" marL="0" rtl="0" algn="l">
              <a:spcBef>
                <a:spcPts val="1200"/>
              </a:spcBef>
              <a:spcAft>
                <a:spcPts val="0"/>
              </a:spcAft>
              <a:buClr>
                <a:schemeClr val="dk1"/>
              </a:buClr>
              <a:buSzPts val="1100"/>
              <a:buFont typeface="Arial"/>
              <a:buNone/>
            </a:pPr>
            <a:r>
              <a:rPr lang="fr">
                <a:solidFill>
                  <a:srgbClr val="9900FF"/>
                </a:solidFill>
              </a:rPr>
              <a:t>1.	Qu’est-ce qu’une donnée à caractère personnel ?</a:t>
            </a:r>
            <a:endParaRPr>
              <a:solidFill>
                <a:srgbClr val="9900FF"/>
              </a:solidFill>
            </a:endParaRPr>
          </a:p>
          <a:p>
            <a:pPr indent="0" lvl="0" marL="0" rtl="0" algn="l">
              <a:spcBef>
                <a:spcPts val="1200"/>
              </a:spcBef>
              <a:spcAft>
                <a:spcPts val="0"/>
              </a:spcAft>
              <a:buClr>
                <a:schemeClr val="dk1"/>
              </a:buClr>
              <a:buSzPts val="1100"/>
              <a:buFont typeface="Arial"/>
              <a:buNone/>
            </a:pPr>
            <a:r>
              <a:rPr lang="fr">
                <a:solidFill>
                  <a:srgbClr val="9900FF"/>
                </a:solidFill>
              </a:rPr>
              <a:t>2.	Pourquoi protéger les données ?</a:t>
            </a:r>
            <a:endParaRPr>
              <a:solidFill>
                <a:srgbClr val="9900FF"/>
              </a:solidFill>
            </a:endParaRPr>
          </a:p>
          <a:p>
            <a:pPr indent="0" lvl="0" marL="0" rtl="0" algn="l">
              <a:spcBef>
                <a:spcPts val="1200"/>
              </a:spcBef>
              <a:spcAft>
                <a:spcPts val="0"/>
              </a:spcAft>
              <a:buClr>
                <a:schemeClr val="dk1"/>
              </a:buClr>
              <a:buSzPts val="1100"/>
              <a:buFont typeface="Arial"/>
              <a:buNone/>
            </a:pPr>
            <a:r>
              <a:rPr lang="fr">
                <a:solidFill>
                  <a:srgbClr val="9900FF"/>
                </a:solidFill>
              </a:rPr>
              <a:t>3.	Historique de la protection des données personnelles</a:t>
            </a:r>
            <a:endParaRPr>
              <a:solidFill>
                <a:srgbClr val="9900FF"/>
              </a:solidFill>
            </a:endParaRPr>
          </a:p>
          <a:p>
            <a:pPr indent="0" lvl="0" marL="0" rtl="0" algn="l">
              <a:spcBef>
                <a:spcPts val="1200"/>
              </a:spcBef>
              <a:spcAft>
                <a:spcPts val="0"/>
              </a:spcAft>
              <a:buClr>
                <a:schemeClr val="dk1"/>
              </a:buClr>
              <a:buSzPts val="1100"/>
              <a:buFont typeface="Arial"/>
              <a:buNone/>
            </a:pPr>
            <a:r>
              <a:rPr lang="fr">
                <a:solidFill>
                  <a:srgbClr val="9900FF"/>
                </a:solidFill>
              </a:rPr>
              <a:t>4.	A qui s’applique le RGPD ?</a:t>
            </a:r>
            <a:endParaRPr>
              <a:solidFill>
                <a:srgbClr val="9900FF"/>
              </a:solidFill>
            </a:endParaRPr>
          </a:p>
          <a:p>
            <a:pPr indent="0" lvl="0" marL="0" rtl="0" algn="l">
              <a:spcBef>
                <a:spcPts val="1200"/>
              </a:spcBef>
              <a:spcAft>
                <a:spcPts val="1200"/>
              </a:spcAft>
              <a:buNone/>
            </a:pPr>
            <a:r>
              <a:rPr lang="fr">
                <a:solidFill>
                  <a:srgbClr val="9900FF"/>
                </a:solidFill>
              </a:rPr>
              <a:t>5.	Enjeux et opportunités du RGPD</a:t>
            </a:r>
            <a:endParaRPr>
              <a:solidFill>
                <a:srgbClr val="9900FF"/>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80" name="Google Shape;80;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81" name="Google Shape;81;p17"/>
          <p:cNvPicPr preferRelativeResize="0"/>
          <p:nvPr/>
        </p:nvPicPr>
        <p:blipFill>
          <a:blip r:embed="rId3">
            <a:alphaModFix/>
          </a:blip>
          <a:stretch>
            <a:fillRect/>
          </a:stretch>
        </p:blipFill>
        <p:spPr>
          <a:xfrm>
            <a:off x="3126038" y="402800"/>
            <a:ext cx="2891925" cy="43379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 name="Shape 85"/>
        <p:cNvGrpSpPr/>
        <p:nvPr/>
      </p:nvGrpSpPr>
      <p:grpSpPr>
        <a:xfrm>
          <a:off x="0" y="0"/>
          <a:ext cx="0" cy="0"/>
          <a:chOff x="0" y="0"/>
          <a:chExt cx="0" cy="0"/>
        </a:xfrm>
      </p:grpSpPr>
      <p:sp>
        <p:nvSpPr>
          <p:cNvPr id="86" name="Google Shape;86;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Le RGPD, ce n’est pas ennuyeux !</a:t>
            </a:r>
            <a:endParaRPr/>
          </a:p>
        </p:txBody>
      </p:sp>
      <p:sp>
        <p:nvSpPr>
          <p:cNvPr id="87" name="Google Shape;87;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a:t>Si si, je vous jure…</a:t>
            </a:r>
            <a:endParaRPr/>
          </a:p>
          <a:p>
            <a:pPr indent="0" lvl="0" marL="0" rtl="0" algn="l">
              <a:spcBef>
                <a:spcPts val="1200"/>
              </a:spcBef>
              <a:spcAft>
                <a:spcPts val="1200"/>
              </a:spcAft>
              <a:buNone/>
            </a:pPr>
            <a:r>
              <a:t/>
            </a:r>
            <a:endParaRPr/>
          </a:p>
        </p:txBody>
      </p:sp>
      <p:pic>
        <p:nvPicPr>
          <p:cNvPr id="88" name="Google Shape;88;p18"/>
          <p:cNvPicPr preferRelativeResize="0"/>
          <p:nvPr/>
        </p:nvPicPr>
        <p:blipFill>
          <a:blip r:embed="rId3">
            <a:alphaModFix/>
          </a:blip>
          <a:stretch>
            <a:fillRect/>
          </a:stretch>
        </p:blipFill>
        <p:spPr>
          <a:xfrm>
            <a:off x="4263521" y="1817175"/>
            <a:ext cx="3861950" cy="28948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 name="Shape 92"/>
        <p:cNvGrpSpPr/>
        <p:nvPr/>
      </p:nvGrpSpPr>
      <p:grpSpPr>
        <a:xfrm>
          <a:off x="0" y="0"/>
          <a:ext cx="0" cy="0"/>
          <a:chOff x="0" y="0"/>
          <a:chExt cx="0" cy="0"/>
        </a:xfrm>
      </p:grpSpPr>
      <p:sp>
        <p:nvSpPr>
          <p:cNvPr id="93" name="Google Shape;93;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Introduction au RGPD</a:t>
            </a:r>
            <a:endParaRPr/>
          </a:p>
        </p:txBody>
      </p:sp>
      <p:sp>
        <p:nvSpPr>
          <p:cNvPr id="94" name="Google Shape;94;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fr">
                <a:solidFill>
                  <a:srgbClr val="9900FF"/>
                </a:solidFill>
              </a:rPr>
              <a:t>1.	Qu’est-ce qu’une donnée à caractère personnel ?</a:t>
            </a:r>
            <a:endParaRPr>
              <a:solidFill>
                <a:srgbClr val="9900FF"/>
              </a:solidFill>
            </a:endParaRPr>
          </a:p>
          <a:p>
            <a:pPr indent="0" lvl="0" marL="0" rtl="0" algn="l">
              <a:spcBef>
                <a:spcPts val="1200"/>
              </a:spcBef>
              <a:spcAft>
                <a:spcPts val="0"/>
              </a:spcAft>
              <a:buClr>
                <a:schemeClr val="dk1"/>
              </a:buClr>
              <a:buSzPts val="1100"/>
              <a:buFont typeface="Arial"/>
              <a:buNone/>
            </a:pPr>
            <a:r>
              <a:rPr lang="fr"/>
              <a:t>2.	Pourquoi protéger les données ?</a:t>
            </a:r>
            <a:endParaRPr/>
          </a:p>
          <a:p>
            <a:pPr indent="0" lvl="0" marL="0" rtl="0" algn="l">
              <a:spcBef>
                <a:spcPts val="1200"/>
              </a:spcBef>
              <a:spcAft>
                <a:spcPts val="0"/>
              </a:spcAft>
              <a:buClr>
                <a:schemeClr val="dk1"/>
              </a:buClr>
              <a:buSzPts val="1100"/>
              <a:buFont typeface="Arial"/>
              <a:buNone/>
            </a:pPr>
            <a:r>
              <a:rPr lang="fr"/>
              <a:t>3.	Historique de la protection des données personnelles</a:t>
            </a:r>
            <a:endParaRPr/>
          </a:p>
          <a:p>
            <a:pPr indent="0" lvl="0" marL="0" rtl="0" algn="l">
              <a:spcBef>
                <a:spcPts val="1200"/>
              </a:spcBef>
              <a:spcAft>
                <a:spcPts val="0"/>
              </a:spcAft>
              <a:buClr>
                <a:schemeClr val="dk1"/>
              </a:buClr>
              <a:buSzPts val="1100"/>
              <a:buFont typeface="Arial"/>
              <a:buNone/>
            </a:pPr>
            <a:r>
              <a:rPr lang="fr"/>
              <a:t>4.	A qui s’applique le RGPD ?</a:t>
            </a:r>
            <a:endParaRPr/>
          </a:p>
          <a:p>
            <a:pPr indent="0" lvl="0" marL="0" rtl="0" algn="l">
              <a:spcBef>
                <a:spcPts val="1200"/>
              </a:spcBef>
              <a:spcAft>
                <a:spcPts val="0"/>
              </a:spcAft>
              <a:buClr>
                <a:schemeClr val="dk1"/>
              </a:buClr>
              <a:buSzPts val="1100"/>
              <a:buFont typeface="Arial"/>
              <a:buNone/>
            </a:pPr>
            <a:r>
              <a:rPr lang="fr"/>
              <a:t>5.	Enjeux et opportunités du RGPD</a:t>
            </a:r>
            <a:endParaRPr/>
          </a:p>
          <a:p>
            <a:pPr indent="0" lvl="0" marL="0" rtl="0" algn="l">
              <a:spcBef>
                <a:spcPts val="1200"/>
              </a:spcBef>
              <a:spcAft>
                <a:spcPts val="0"/>
              </a:spcAft>
              <a:buClr>
                <a:schemeClr val="dk1"/>
              </a:buClr>
              <a:buSzPts val="1100"/>
              <a:buFont typeface="Arial"/>
              <a:buNone/>
            </a:pPr>
            <a:r>
              <a:t/>
            </a:r>
            <a:endParaRPr/>
          </a:p>
          <a:p>
            <a:pPr indent="0" lvl="0" marL="0" rtl="0" algn="l">
              <a:spcBef>
                <a:spcPts val="1200"/>
              </a:spcBef>
              <a:spcAft>
                <a:spcPts val="120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Donnée personnelle : définition</a:t>
            </a:r>
            <a:endParaRPr/>
          </a:p>
        </p:txBody>
      </p:sp>
      <p:sp>
        <p:nvSpPr>
          <p:cNvPr id="100" name="Google Shape;100;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92500"/>
          </a:bodyPr>
          <a:lstStyle/>
          <a:p>
            <a:pPr indent="0" lvl="0" marL="0" rtl="0" algn="l">
              <a:spcBef>
                <a:spcPts val="0"/>
              </a:spcBef>
              <a:spcAft>
                <a:spcPts val="0"/>
              </a:spcAft>
              <a:buNone/>
            </a:pPr>
            <a:r>
              <a:rPr b="1" lang="fr" sz="2058">
                <a:solidFill>
                  <a:srgbClr val="9900FF"/>
                </a:solidFill>
              </a:rPr>
              <a:t>Une donnée personnelle est toute information relative à une personne physique susceptible d'être identifiée, directement ou indirectement.</a:t>
            </a:r>
            <a:endParaRPr b="1" sz="2058">
              <a:solidFill>
                <a:srgbClr val="9900FF"/>
              </a:solidFill>
            </a:endParaRPr>
          </a:p>
          <a:p>
            <a:pPr indent="0" lvl="0" marL="0" rtl="0" algn="l">
              <a:spcBef>
                <a:spcPts val="1200"/>
              </a:spcBef>
              <a:spcAft>
                <a:spcPts val="0"/>
              </a:spcAft>
              <a:buNone/>
            </a:pPr>
            <a:r>
              <a:rPr lang="fr"/>
              <a:t>Par exemple : un nom, une photo, une empreinte, une adresse postale, une adresse mail, un numéro de téléphone, un numéro de sécurité sociale, un matricule interne, une adresse IP, un identifiant de connexion informatique, un enregistrement vocal, etc.</a:t>
            </a:r>
            <a:endParaRPr/>
          </a:p>
          <a:p>
            <a:pPr indent="0" lvl="0" marL="0" rtl="0" algn="l">
              <a:spcBef>
                <a:spcPts val="1200"/>
              </a:spcBef>
              <a:spcAft>
                <a:spcPts val="0"/>
              </a:spcAft>
              <a:buNone/>
            </a:pPr>
            <a:r>
              <a:rPr lang="fr"/>
              <a:t>Certaines données sont dites “sensibles”, mais nous y reviendrons.</a:t>
            </a:r>
            <a:endParaRPr/>
          </a:p>
          <a:p>
            <a:pPr indent="0" lvl="0" marL="0" rtl="0" algn="l">
              <a:spcBef>
                <a:spcPts val="1200"/>
              </a:spcBef>
              <a:spcAft>
                <a:spcPts val="0"/>
              </a:spcAft>
              <a:buNone/>
            </a:pPr>
            <a:r>
              <a:t/>
            </a:r>
            <a:endParaRPr/>
          </a:p>
          <a:p>
            <a:pPr indent="0" lvl="0" marL="0" rtl="0" algn="r">
              <a:spcBef>
                <a:spcPts val="1200"/>
              </a:spcBef>
              <a:spcAft>
                <a:spcPts val="1200"/>
              </a:spcAft>
              <a:buNone/>
            </a:pPr>
            <a:r>
              <a:rPr lang="fr"/>
              <a:t>Source : CNIL.fr</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fr"/>
              <a:t>Identification des personnes</a:t>
            </a:r>
            <a:endParaRPr/>
          </a:p>
          <a:p>
            <a:pPr indent="0" lvl="0" marL="0" rtl="0" algn="l">
              <a:spcBef>
                <a:spcPts val="0"/>
              </a:spcBef>
              <a:spcAft>
                <a:spcPts val="0"/>
              </a:spcAft>
              <a:buClr>
                <a:schemeClr val="dk1"/>
              </a:buClr>
              <a:buSzPct val="39285"/>
              <a:buFont typeface="Arial"/>
              <a:buNone/>
            </a:pPr>
            <a:r>
              <a:t/>
            </a:r>
            <a:endParaRPr/>
          </a:p>
          <a:p>
            <a:pPr indent="0" lvl="0" marL="0" rtl="0" algn="l">
              <a:spcBef>
                <a:spcPts val="0"/>
              </a:spcBef>
              <a:spcAft>
                <a:spcPts val="0"/>
              </a:spcAft>
              <a:buNone/>
            </a:pPr>
            <a:r>
              <a:t/>
            </a:r>
            <a:endParaRPr/>
          </a:p>
        </p:txBody>
      </p:sp>
      <p:sp>
        <p:nvSpPr>
          <p:cNvPr id="106" name="Google Shape;106;p2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Clr>
                <a:schemeClr val="dk1"/>
              </a:buClr>
              <a:buSzPts val="1100"/>
              <a:buFont typeface="Arial"/>
              <a:buNone/>
            </a:pPr>
            <a:r>
              <a:rPr lang="fr"/>
              <a:t>Une personne physique peut être identifiée :</a:t>
            </a:r>
            <a:endParaRPr/>
          </a:p>
          <a:p>
            <a:pPr indent="-342900" lvl="0" marL="457200" rtl="0" algn="l">
              <a:spcBef>
                <a:spcPts val="1200"/>
              </a:spcBef>
              <a:spcAft>
                <a:spcPts val="0"/>
              </a:spcAft>
              <a:buSzPts val="1800"/>
              <a:buChar char="-"/>
            </a:pPr>
            <a:r>
              <a:rPr b="1" lang="fr"/>
              <a:t>directement</a:t>
            </a:r>
            <a:r>
              <a:rPr lang="fr"/>
              <a:t> (exemple : nom)</a:t>
            </a:r>
            <a:endParaRPr/>
          </a:p>
          <a:p>
            <a:pPr indent="-342900" lvl="0" marL="457200" rtl="0" algn="l">
              <a:spcBef>
                <a:spcPts val="0"/>
              </a:spcBef>
              <a:spcAft>
                <a:spcPts val="0"/>
              </a:spcAft>
              <a:buSzPts val="1800"/>
              <a:buChar char="-"/>
            </a:pPr>
            <a:r>
              <a:rPr b="1" lang="fr"/>
              <a:t>indirectement</a:t>
            </a:r>
            <a:r>
              <a:rPr lang="fr"/>
              <a:t> (exemple : numéro de téléphone ou de plaque d’immatriculation, numéro de sécurité sociale, adresse postale ou courriel, voix, photo...)</a:t>
            </a:r>
            <a:endParaRPr/>
          </a:p>
          <a:p>
            <a:pPr indent="0" lvl="0" marL="0" rtl="0" algn="l">
              <a:spcBef>
                <a:spcPts val="1200"/>
              </a:spcBef>
              <a:spcAft>
                <a:spcPts val="0"/>
              </a:spcAft>
              <a:buClr>
                <a:schemeClr val="dk1"/>
              </a:buClr>
              <a:buSzPts val="1100"/>
              <a:buFont typeface="Arial"/>
              <a:buNone/>
            </a:pPr>
            <a:r>
              <a:rPr lang="fr"/>
              <a:t>L’identification d’une personne physique peut être réalisée :</a:t>
            </a:r>
            <a:endParaRPr/>
          </a:p>
          <a:p>
            <a:pPr indent="-342900" lvl="0" marL="457200" rtl="0" algn="l">
              <a:spcBef>
                <a:spcPts val="1200"/>
              </a:spcBef>
              <a:spcAft>
                <a:spcPts val="0"/>
              </a:spcAft>
              <a:buSzPts val="1800"/>
              <a:buChar char="-"/>
            </a:pPr>
            <a:r>
              <a:rPr lang="fr"/>
              <a:t>à partir d’</a:t>
            </a:r>
            <a:r>
              <a:rPr b="1" lang="fr"/>
              <a:t>une seule donnée</a:t>
            </a:r>
            <a:r>
              <a:rPr lang="fr"/>
              <a:t> (exemple : nom)</a:t>
            </a:r>
            <a:endParaRPr/>
          </a:p>
          <a:p>
            <a:pPr indent="-342900" lvl="0" marL="457200" rtl="0" algn="l">
              <a:spcBef>
                <a:spcPts val="0"/>
              </a:spcBef>
              <a:spcAft>
                <a:spcPts val="0"/>
              </a:spcAft>
              <a:buSzPts val="1800"/>
              <a:buChar char="-"/>
            </a:pPr>
            <a:r>
              <a:rPr lang="fr"/>
              <a:t>à partir du </a:t>
            </a:r>
            <a:r>
              <a:rPr b="1" lang="fr"/>
              <a:t>croisement d’un ensemble de données</a:t>
            </a:r>
            <a:r>
              <a:rPr lang="fr"/>
              <a:t> (exemple : une femme vivant à telle adresse, née tel jour et membre dans telle association)</a:t>
            </a:r>
            <a:endParaRPr/>
          </a:p>
          <a:p>
            <a:pPr indent="0" lvl="0" marL="0" rtl="0" algn="l">
              <a:spcBef>
                <a:spcPts val="1200"/>
              </a:spcBef>
              <a:spcAft>
                <a:spcPts val="120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388620" lvl="0" marL="457200" rtl="0" algn="l">
              <a:spcBef>
                <a:spcPts val="0"/>
              </a:spcBef>
              <a:spcAft>
                <a:spcPts val="0"/>
              </a:spcAft>
              <a:buSzPct val="100000"/>
              <a:buAutoNum type="romanUcPeriod"/>
            </a:pPr>
            <a:r>
              <a:rPr lang="fr"/>
              <a:t>Introduction au RGPD</a:t>
            </a:r>
            <a:endParaRPr/>
          </a:p>
        </p:txBody>
      </p:sp>
      <p:sp>
        <p:nvSpPr>
          <p:cNvPr id="112" name="Google Shape;112;p2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a:t>1.	Qu’est-ce qu’une donnée à caractère personnel ?</a:t>
            </a:r>
            <a:endParaRPr/>
          </a:p>
          <a:p>
            <a:pPr indent="0" lvl="0" marL="0" rtl="0" algn="l">
              <a:spcBef>
                <a:spcPts val="1200"/>
              </a:spcBef>
              <a:spcAft>
                <a:spcPts val="0"/>
              </a:spcAft>
              <a:buNone/>
            </a:pPr>
            <a:r>
              <a:rPr lang="fr">
                <a:solidFill>
                  <a:srgbClr val="9900FF"/>
                </a:solidFill>
              </a:rPr>
              <a:t>2.	Pourquoi protéger les données ?</a:t>
            </a:r>
            <a:endParaRPr>
              <a:solidFill>
                <a:srgbClr val="9900FF"/>
              </a:solidFill>
            </a:endParaRPr>
          </a:p>
          <a:p>
            <a:pPr indent="0" lvl="0" marL="0" rtl="0" algn="l">
              <a:spcBef>
                <a:spcPts val="1200"/>
              </a:spcBef>
              <a:spcAft>
                <a:spcPts val="0"/>
              </a:spcAft>
              <a:buNone/>
            </a:pPr>
            <a:r>
              <a:rPr lang="fr"/>
              <a:t>3.	Historique de la protection des données personnelles</a:t>
            </a:r>
            <a:endParaRPr/>
          </a:p>
          <a:p>
            <a:pPr indent="0" lvl="0" marL="0" rtl="0" algn="l">
              <a:spcBef>
                <a:spcPts val="1200"/>
              </a:spcBef>
              <a:spcAft>
                <a:spcPts val="0"/>
              </a:spcAft>
              <a:buNone/>
            </a:pPr>
            <a:r>
              <a:rPr lang="fr"/>
              <a:t>4.	A qui s’applique le RGPD ?</a:t>
            </a:r>
            <a:endParaRPr/>
          </a:p>
          <a:p>
            <a:pPr indent="0" lvl="0" marL="0" rtl="0" algn="l">
              <a:spcBef>
                <a:spcPts val="1200"/>
              </a:spcBef>
              <a:spcAft>
                <a:spcPts val="0"/>
              </a:spcAft>
              <a:buNone/>
            </a:pPr>
            <a:r>
              <a:rPr lang="fr"/>
              <a:t>5.	Enjeux et opportunités du RGPD</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Pourquoi protéger SES données ?</a:t>
            </a:r>
            <a:endParaRPr/>
          </a:p>
        </p:txBody>
      </p:sp>
      <p:sp>
        <p:nvSpPr>
          <p:cNvPr id="118" name="Google Shape;118;p2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b="1" lang="fr"/>
              <a:t>Avec la diversité et le développement des usages numériques, protéger sa vie privée sur internet devient essentiel.</a:t>
            </a:r>
            <a:endParaRPr b="1"/>
          </a:p>
          <a:p>
            <a:pPr indent="0" lvl="0" marL="0" rtl="0" algn="l">
              <a:spcBef>
                <a:spcPts val="1200"/>
              </a:spcBef>
              <a:spcAft>
                <a:spcPts val="0"/>
              </a:spcAft>
              <a:buNone/>
            </a:pPr>
            <a:r>
              <a:rPr lang="fr"/>
              <a:t>Tout le monde est concerné, car </a:t>
            </a:r>
            <a:r>
              <a:rPr b="1" lang="fr">
                <a:solidFill>
                  <a:srgbClr val="9900FF"/>
                </a:solidFill>
              </a:rPr>
              <a:t>tout le monde a une vie privée</a:t>
            </a:r>
            <a:r>
              <a:rPr lang="fr"/>
              <a:t>.</a:t>
            </a:r>
            <a:endParaRPr/>
          </a:p>
          <a:p>
            <a:pPr indent="0" lvl="0" marL="0" rtl="0" algn="l">
              <a:spcBef>
                <a:spcPts val="1200"/>
              </a:spcBef>
              <a:spcAft>
                <a:spcPts val="0"/>
              </a:spcAft>
              <a:buNone/>
            </a:pPr>
            <a:r>
              <a:rPr lang="fr"/>
              <a:t>Même si en apparence “nous n’avons rien à cacher”...</a:t>
            </a:r>
            <a:endParaRPr/>
          </a:p>
          <a:p>
            <a:pPr indent="0" lvl="0" marL="0" rtl="0" algn="l">
              <a:spcBef>
                <a:spcPts val="1200"/>
              </a:spcBef>
              <a:spcAft>
                <a:spcPts val="0"/>
              </a:spcAft>
              <a:buNone/>
            </a:pPr>
            <a:r>
              <a:rPr lang="fr"/>
              <a:t>Nous avons tous des envies, des désirs, des secrets, des convictions, une vie sexuelle, des goûts musicaux, des projets, un crédit, un logement social, une alimentation, un rhume, des opinions politiques… et nous devons pouvoir décider de les partager ou non, et avec qui.</a:t>
            </a:r>
            <a:endParaRPr/>
          </a:p>
          <a:p>
            <a:pPr indent="0" lvl="0" marL="0" rtl="0" algn="l">
              <a:spcBef>
                <a:spcPts val="1200"/>
              </a:spcBef>
              <a:spcAft>
                <a:spcPts val="0"/>
              </a:spcAft>
              <a:buNone/>
            </a:pPr>
            <a:r>
              <a:t/>
            </a:r>
            <a:endParaRPr/>
          </a:p>
          <a:p>
            <a:pPr indent="0" lvl="0" marL="0" rtl="0" algn="r">
              <a:spcBef>
                <a:spcPts val="1200"/>
              </a:spcBef>
              <a:spcAft>
                <a:spcPts val="1200"/>
              </a:spcAft>
              <a:buNone/>
            </a:pPr>
            <a:r>
              <a:rPr lang="fr"/>
              <a:t>Source : Médiapart, Annakim Delfendahl</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Est-ce grave de partager ses données ?</a:t>
            </a:r>
            <a:endParaRPr/>
          </a:p>
        </p:txBody>
      </p:sp>
      <p:sp>
        <p:nvSpPr>
          <p:cNvPr id="124" name="Google Shape;124;p2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92500"/>
          </a:bodyPr>
          <a:lstStyle/>
          <a:p>
            <a:pPr indent="0" lvl="0" marL="0" rtl="0" algn="l">
              <a:spcBef>
                <a:spcPts val="0"/>
              </a:spcBef>
              <a:spcAft>
                <a:spcPts val="0"/>
              </a:spcAft>
              <a:buNone/>
            </a:pPr>
            <a:r>
              <a:rPr lang="fr"/>
              <a:t>D</a:t>
            </a:r>
            <a:r>
              <a:rPr lang="fr"/>
              <a:t>ans la majorité des cas nos données laissées sur le Web sont inoffensives.</a:t>
            </a:r>
            <a:endParaRPr/>
          </a:p>
          <a:p>
            <a:pPr indent="0" lvl="0" marL="0" rtl="0" algn="l">
              <a:spcBef>
                <a:spcPts val="1200"/>
              </a:spcBef>
              <a:spcAft>
                <a:spcPts val="0"/>
              </a:spcAft>
              <a:buNone/>
            </a:pPr>
            <a:r>
              <a:rPr lang="fr"/>
              <a:t>Mais on peut se retrouver dans une situation où elles deviendront une source de </a:t>
            </a:r>
            <a:r>
              <a:rPr b="1" lang="fr"/>
              <a:t>nuisance</a:t>
            </a:r>
            <a:r>
              <a:rPr lang="fr"/>
              <a:t>.</a:t>
            </a:r>
            <a:endParaRPr/>
          </a:p>
          <a:p>
            <a:pPr indent="0" lvl="0" marL="0" rtl="0" algn="l">
              <a:spcBef>
                <a:spcPts val="1200"/>
              </a:spcBef>
              <a:spcAft>
                <a:spcPts val="0"/>
              </a:spcAft>
              <a:buNone/>
            </a:pPr>
            <a:r>
              <a:rPr lang="fr"/>
              <a:t>Le RGPD (règlement général sur la protection des données) nous informe que « le traitement automatisé ou profilage peut avoir des conséquences comme le refus automatique d’un crédit, le refus automatique d’une candidature, ou désavantager financièrement la personne (absence de prime, hausse du coût d’un service) ».</a:t>
            </a:r>
            <a:endParaRPr/>
          </a:p>
          <a:p>
            <a:pPr indent="0" lvl="0" marL="0" rtl="0" algn="l">
              <a:spcBef>
                <a:spcPts val="1200"/>
              </a:spcBef>
              <a:spcAft>
                <a:spcPts val="0"/>
              </a:spcAft>
              <a:buNone/>
            </a:pPr>
            <a:r>
              <a:rPr lang="fr"/>
              <a:t>Par exemple : une personne souhaitant fonder une famille et postulant à un emploi.</a:t>
            </a:r>
            <a:endParaRPr/>
          </a:p>
          <a:p>
            <a:pPr indent="0" lvl="0" marL="0" rtl="0" algn="r">
              <a:spcBef>
                <a:spcPts val="1200"/>
              </a:spcBef>
              <a:spcAft>
                <a:spcPts val="1200"/>
              </a:spcAft>
              <a:buNone/>
            </a:pPr>
            <a:r>
              <a:rPr lang="fr"/>
              <a:t>Source : Médiapart, Annakim Delfendahl</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pic>
        <p:nvPicPr>
          <p:cNvPr id="129" name="Google Shape;129;p25"/>
          <p:cNvPicPr preferRelativeResize="0"/>
          <p:nvPr/>
        </p:nvPicPr>
        <p:blipFill>
          <a:blip r:embed="rId3">
            <a:alphaModFix/>
          </a:blip>
          <a:stretch>
            <a:fillRect/>
          </a:stretch>
        </p:blipFill>
        <p:spPr>
          <a:xfrm>
            <a:off x="238125" y="1247775"/>
            <a:ext cx="8667750" cy="3409950"/>
          </a:xfrm>
          <a:prstGeom prst="rect">
            <a:avLst/>
          </a:prstGeom>
          <a:noFill/>
          <a:ln>
            <a:noFill/>
          </a:ln>
        </p:spPr>
      </p:pic>
      <p:pic>
        <p:nvPicPr>
          <p:cNvPr id="130" name="Google Shape;130;p25"/>
          <p:cNvPicPr preferRelativeResize="0"/>
          <p:nvPr/>
        </p:nvPicPr>
        <p:blipFill>
          <a:blip r:embed="rId4">
            <a:alphaModFix/>
          </a:blip>
          <a:stretch>
            <a:fillRect/>
          </a:stretch>
        </p:blipFill>
        <p:spPr>
          <a:xfrm>
            <a:off x="3629025" y="301125"/>
            <a:ext cx="1885950" cy="7810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Soyez</a:t>
            </a:r>
            <a:r>
              <a:rPr lang="fr"/>
              <a:t> des justiciers du Web !</a:t>
            </a:r>
            <a:endParaRPr/>
          </a:p>
        </p:txBody>
      </p:sp>
      <p:sp>
        <p:nvSpPr>
          <p:cNvPr id="136" name="Google Shape;136;p26"/>
          <p:cNvSpPr txBox="1"/>
          <p:nvPr>
            <p:ph idx="1" type="body"/>
          </p:nvPr>
        </p:nvSpPr>
        <p:spPr>
          <a:xfrm>
            <a:off x="311700" y="1152475"/>
            <a:ext cx="49677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b="1" lang="fr">
                <a:solidFill>
                  <a:srgbClr val="9900FF"/>
                </a:solidFill>
              </a:rPr>
              <a:t>Protéger les données personnelles revient à protéger l’intimité, la dignité et les droits fondamentaux des personnes comme le droit à la vie privée, le droit à l’image ou le droit à l’honneur.</a:t>
            </a:r>
            <a:endParaRPr b="1">
              <a:solidFill>
                <a:srgbClr val="9900FF"/>
              </a:solidFill>
            </a:endParaRPr>
          </a:p>
        </p:txBody>
      </p:sp>
      <p:pic>
        <p:nvPicPr>
          <p:cNvPr id="137" name="Google Shape;137;p26"/>
          <p:cNvPicPr preferRelativeResize="0"/>
          <p:nvPr/>
        </p:nvPicPr>
        <p:blipFill>
          <a:blip r:embed="rId3">
            <a:alphaModFix/>
          </a:blip>
          <a:stretch>
            <a:fillRect/>
          </a:stretch>
        </p:blipFill>
        <p:spPr>
          <a:xfrm>
            <a:off x="5279400" y="1301350"/>
            <a:ext cx="3416400" cy="34164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1" name="Shape 141"/>
        <p:cNvGrpSpPr/>
        <p:nvPr/>
      </p:nvGrpSpPr>
      <p:grpSpPr>
        <a:xfrm>
          <a:off x="0" y="0"/>
          <a:ext cx="0" cy="0"/>
          <a:chOff x="0" y="0"/>
          <a:chExt cx="0" cy="0"/>
        </a:xfrm>
      </p:grpSpPr>
      <p:sp>
        <p:nvSpPr>
          <p:cNvPr id="142" name="Google Shape;142;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A quoi servent les données personnelles ?</a:t>
            </a:r>
            <a:endParaRPr/>
          </a:p>
        </p:txBody>
      </p:sp>
      <p:sp>
        <p:nvSpPr>
          <p:cNvPr id="143" name="Google Shape;143;p2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44" name="Google Shape;144;p27"/>
          <p:cNvPicPr preferRelativeResize="0"/>
          <p:nvPr/>
        </p:nvPicPr>
        <p:blipFill>
          <a:blip r:embed="rId3">
            <a:alphaModFix/>
          </a:blip>
          <a:stretch>
            <a:fillRect/>
          </a:stretch>
        </p:blipFill>
        <p:spPr>
          <a:xfrm>
            <a:off x="3290838" y="1152475"/>
            <a:ext cx="2562312" cy="34164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4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A quoi servent les données personnelles ?</a:t>
            </a:r>
            <a:endParaRPr/>
          </a:p>
        </p:txBody>
      </p:sp>
      <p:sp>
        <p:nvSpPr>
          <p:cNvPr id="150" name="Google Shape;150;p2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fr"/>
              <a:t>La collecte de données est à la base du développement de l’économie numérique grâce à la publicité qu’elle peut générer. </a:t>
            </a:r>
            <a:endParaRPr/>
          </a:p>
          <a:p>
            <a:pPr indent="0" lvl="0" marL="0" rtl="0" algn="l">
              <a:spcBef>
                <a:spcPts val="1200"/>
              </a:spcBef>
              <a:spcAft>
                <a:spcPts val="0"/>
              </a:spcAft>
              <a:buClr>
                <a:schemeClr val="dk1"/>
              </a:buClr>
              <a:buSzPts val="1100"/>
              <a:buFont typeface="Arial"/>
              <a:buNone/>
            </a:pPr>
            <a:r>
              <a:rPr lang="fr"/>
              <a:t>C’est aujourd’hui l’un des fondements du système des organismes privés.</a:t>
            </a:r>
            <a:endParaRPr/>
          </a:p>
          <a:p>
            <a:pPr indent="0" lvl="0" marL="0" rtl="0" algn="l">
              <a:spcBef>
                <a:spcPts val="1200"/>
              </a:spcBef>
              <a:spcAft>
                <a:spcPts val="0"/>
              </a:spcAft>
              <a:buNone/>
            </a:pPr>
            <a:r>
              <a:rPr b="1" lang="fr">
                <a:solidFill>
                  <a:srgbClr val="9900FF"/>
                </a:solidFill>
              </a:rPr>
              <a:t>Dans ce système de société, les données personnelles des utilisateurs servent à générer des bénéfices.</a:t>
            </a:r>
            <a:endParaRPr b="1">
              <a:solidFill>
                <a:srgbClr val="9900FF"/>
              </a:solidFill>
            </a:endParaRPr>
          </a:p>
          <a:p>
            <a:pPr indent="0" lvl="0" marL="0" rtl="0" algn="l">
              <a:spcBef>
                <a:spcPts val="1200"/>
              </a:spcBef>
              <a:spcAft>
                <a:spcPts val="0"/>
              </a:spcAft>
              <a:buNone/>
            </a:pPr>
            <a:r>
              <a:t/>
            </a:r>
            <a:endParaRPr b="1">
              <a:solidFill>
                <a:srgbClr val="9900FF"/>
              </a:solidFill>
            </a:endParaRPr>
          </a:p>
          <a:p>
            <a:pPr indent="0" lvl="0" marL="0" rtl="0" algn="l">
              <a:spcBef>
                <a:spcPts val="1200"/>
              </a:spcBef>
              <a:spcAft>
                <a:spcPts val="0"/>
              </a:spcAft>
              <a:buNone/>
            </a:pPr>
            <a:r>
              <a:t/>
            </a:r>
            <a:endParaRPr b="1">
              <a:solidFill>
                <a:srgbClr val="9900FF"/>
              </a:solidFill>
            </a:endParaRPr>
          </a:p>
          <a:p>
            <a:pPr indent="0" lvl="0" marL="0" rtl="0" algn="r">
              <a:spcBef>
                <a:spcPts val="1200"/>
              </a:spcBef>
              <a:spcAft>
                <a:spcPts val="1200"/>
              </a:spcAft>
              <a:buNone/>
            </a:pPr>
            <a:r>
              <a:rPr lang="fr"/>
              <a:t>Source : Médiapart, Annakim Delfendahl</a:t>
            </a:r>
            <a:endParaRPr b="1">
              <a:solidFill>
                <a:srgbClr val="9900FF"/>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4" name="Shape 154"/>
        <p:cNvGrpSpPr/>
        <p:nvPr/>
      </p:nvGrpSpPr>
      <p:grpSpPr>
        <a:xfrm>
          <a:off x="0" y="0"/>
          <a:ext cx="0" cy="0"/>
          <a:chOff x="0" y="0"/>
          <a:chExt cx="0" cy="0"/>
        </a:xfrm>
      </p:grpSpPr>
      <p:sp>
        <p:nvSpPr>
          <p:cNvPr id="155" name="Google Shape;155;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Facebook et les données</a:t>
            </a:r>
            <a:endParaRPr/>
          </a:p>
        </p:txBody>
      </p:sp>
      <p:sp>
        <p:nvSpPr>
          <p:cNvPr id="156" name="Google Shape;156;p2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fr"/>
              <a:t>Facebook, </a:t>
            </a:r>
            <a:r>
              <a:rPr lang="fr"/>
              <a:t>« c’est gratuit et ça le restera toujours »...</a:t>
            </a:r>
            <a:endParaRPr/>
          </a:p>
          <a:p>
            <a:pPr indent="0" lvl="0" marL="0" rtl="0" algn="l">
              <a:spcBef>
                <a:spcPts val="1200"/>
              </a:spcBef>
              <a:spcAft>
                <a:spcPts val="0"/>
              </a:spcAft>
              <a:buNone/>
            </a:pPr>
            <a:r>
              <a:rPr lang="fr"/>
              <a:t>Pourtant en 2020, le chiffre d'affaires de Facebook a atteint 70,7 milliards de dollars.</a:t>
            </a:r>
            <a:endParaRPr/>
          </a:p>
          <a:p>
            <a:pPr indent="0" lvl="0" marL="0" rtl="0" algn="l">
              <a:spcBef>
                <a:spcPts val="1200"/>
              </a:spcBef>
              <a:spcAft>
                <a:spcPts val="0"/>
              </a:spcAft>
              <a:buNone/>
            </a:pPr>
            <a:r>
              <a:rPr b="1" lang="fr">
                <a:solidFill>
                  <a:srgbClr val="9900FF"/>
                </a:solidFill>
              </a:rPr>
              <a:t>Si la valeur d’une entreprise comme Facebook se compte en milliards, c’est parce que les données que nous générons sur ces sites sont revendues à d’autres sociétés commerciales.</a:t>
            </a:r>
            <a:endParaRPr b="1">
              <a:solidFill>
                <a:srgbClr val="9900FF"/>
              </a:solidFill>
            </a:endParaRPr>
          </a:p>
          <a:p>
            <a:pPr indent="0" lvl="0" marL="0" rtl="0" algn="l">
              <a:spcBef>
                <a:spcPts val="1200"/>
              </a:spcBef>
              <a:spcAft>
                <a:spcPts val="0"/>
              </a:spcAft>
              <a:buClr>
                <a:schemeClr val="dk1"/>
              </a:buClr>
              <a:buSzPts val="1100"/>
              <a:buFont typeface="Arial"/>
              <a:buNone/>
            </a:pPr>
            <a:r>
              <a:rPr lang="fr"/>
              <a:t>En résumé…</a:t>
            </a:r>
            <a:endParaRPr/>
          </a:p>
          <a:p>
            <a:pPr indent="0" lvl="0" marL="0" rtl="0" algn="l">
              <a:spcBef>
                <a:spcPts val="1200"/>
              </a:spcBef>
              <a:spcAft>
                <a:spcPts val="0"/>
              </a:spcAft>
              <a:buNone/>
            </a:pPr>
            <a:r>
              <a:rPr lang="fr"/>
              <a:t>« Si c’est gratuit, c’est toi le produit »</a:t>
            </a:r>
            <a:endParaRPr/>
          </a:p>
          <a:p>
            <a:pPr indent="0" lvl="0" marL="0" rtl="0" algn="r">
              <a:spcBef>
                <a:spcPts val="1200"/>
              </a:spcBef>
              <a:spcAft>
                <a:spcPts val="1200"/>
              </a:spcAft>
              <a:buNone/>
            </a:pPr>
            <a:r>
              <a:rPr lang="fr"/>
              <a:t>Source : Médiapart, Annakim Delfendahl / Les Echos</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388620" lvl="0" marL="457200" rtl="0" algn="l">
              <a:spcBef>
                <a:spcPts val="0"/>
              </a:spcBef>
              <a:spcAft>
                <a:spcPts val="0"/>
              </a:spcAft>
              <a:buSzPct val="100000"/>
              <a:buAutoNum type="romanUcPeriod"/>
            </a:pPr>
            <a:r>
              <a:rPr lang="fr"/>
              <a:t>Introduction au RGPD</a:t>
            </a:r>
            <a:endParaRPr/>
          </a:p>
        </p:txBody>
      </p:sp>
      <p:sp>
        <p:nvSpPr>
          <p:cNvPr id="162" name="Google Shape;162;p3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a:t>1.	Qu’est-ce qu’une donnée à caractère personnel ?</a:t>
            </a:r>
            <a:endParaRPr/>
          </a:p>
          <a:p>
            <a:pPr indent="0" lvl="0" marL="0" rtl="0" algn="l">
              <a:spcBef>
                <a:spcPts val="1200"/>
              </a:spcBef>
              <a:spcAft>
                <a:spcPts val="0"/>
              </a:spcAft>
              <a:buNone/>
            </a:pPr>
            <a:r>
              <a:rPr lang="fr"/>
              <a:t>2.	Pourquoi protéger les données ?</a:t>
            </a:r>
            <a:endParaRPr/>
          </a:p>
          <a:p>
            <a:pPr indent="0" lvl="0" marL="0" rtl="0" algn="l">
              <a:spcBef>
                <a:spcPts val="1200"/>
              </a:spcBef>
              <a:spcAft>
                <a:spcPts val="0"/>
              </a:spcAft>
              <a:buNone/>
            </a:pPr>
            <a:r>
              <a:rPr lang="fr">
                <a:solidFill>
                  <a:srgbClr val="9900FF"/>
                </a:solidFill>
              </a:rPr>
              <a:t>3.	Historique de la protection des données personnelles</a:t>
            </a:r>
            <a:endParaRPr>
              <a:solidFill>
                <a:srgbClr val="9900FF"/>
              </a:solidFill>
            </a:endParaRPr>
          </a:p>
          <a:p>
            <a:pPr indent="0" lvl="0" marL="0" rtl="0" algn="l">
              <a:spcBef>
                <a:spcPts val="1200"/>
              </a:spcBef>
              <a:spcAft>
                <a:spcPts val="0"/>
              </a:spcAft>
              <a:buNone/>
            </a:pPr>
            <a:r>
              <a:rPr lang="fr"/>
              <a:t>4.	A qui s’applique le RGPD ?</a:t>
            </a:r>
            <a:endParaRPr/>
          </a:p>
          <a:p>
            <a:pPr indent="0" lvl="0" marL="0" rtl="0" algn="l">
              <a:spcBef>
                <a:spcPts val="1200"/>
              </a:spcBef>
              <a:spcAft>
                <a:spcPts val="0"/>
              </a:spcAft>
              <a:buNone/>
            </a:pPr>
            <a:r>
              <a:rPr lang="fr"/>
              <a:t>5.	Enjeux et opportunités du RGPD</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Projet Safari - 1973</a:t>
            </a:r>
            <a:endParaRPr/>
          </a:p>
        </p:txBody>
      </p:sp>
      <p:sp>
        <p:nvSpPr>
          <p:cNvPr id="168" name="Google Shape;168;p3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92500" lnSpcReduction="20000"/>
          </a:bodyPr>
          <a:lstStyle/>
          <a:p>
            <a:pPr indent="0" lvl="0" marL="0" rtl="0" algn="l">
              <a:spcBef>
                <a:spcPts val="0"/>
              </a:spcBef>
              <a:spcAft>
                <a:spcPts val="0"/>
              </a:spcAft>
              <a:buNone/>
            </a:pPr>
            <a:r>
              <a:rPr lang="fr"/>
              <a:t>Le gouvernement décide de mettre en œuvre un projet d’interconnexion des fichiers de l’administration permettant de regrouper toutes les informations détenues sur chacun des citoyens.</a:t>
            </a:r>
            <a:endParaRPr/>
          </a:p>
          <a:p>
            <a:pPr indent="0" lvl="0" marL="0" rtl="0" algn="l">
              <a:spcBef>
                <a:spcPts val="1200"/>
              </a:spcBef>
              <a:spcAft>
                <a:spcPts val="0"/>
              </a:spcAft>
              <a:buClr>
                <a:schemeClr val="dk1"/>
              </a:buClr>
              <a:buSzPct val="61111"/>
              <a:buFont typeface="Arial"/>
              <a:buNone/>
            </a:pPr>
            <a:r>
              <a:rPr lang="fr"/>
              <a:t>L’année suivante, Le Monde dévoile ce projet qui suscite l’indignation générale.La société se questionne sur les </a:t>
            </a:r>
            <a:r>
              <a:rPr lang="fr"/>
              <a:t>risques potentiels et liberticides du traitement informatique massif des données </a:t>
            </a:r>
            <a:endParaRPr/>
          </a:p>
          <a:p>
            <a:pPr indent="0" lvl="0" marL="0" rtl="0" algn="l">
              <a:spcBef>
                <a:spcPts val="1200"/>
              </a:spcBef>
              <a:spcAft>
                <a:spcPts val="0"/>
              </a:spcAft>
              <a:buNone/>
            </a:pPr>
            <a:r>
              <a:rPr lang="fr"/>
              <a:t>Finalement, le projet est abandonné et le gouvernement crée une commission “informatique et libertés” chargée de publier un rapport sur les moyens d’encadrer le traitement informatique des données se rapportant à des personnes physiques.</a:t>
            </a:r>
            <a:endParaRPr/>
          </a:p>
          <a:p>
            <a:pPr indent="0" lvl="0" marL="0" rtl="0" algn="l">
              <a:spcBef>
                <a:spcPts val="1200"/>
              </a:spcBef>
              <a:spcAft>
                <a:spcPts val="1200"/>
              </a:spcAft>
              <a:buNone/>
            </a:pPr>
            <a:r>
              <a:rPr lang="fr"/>
              <a:t>Vidéo INA : </a:t>
            </a:r>
            <a:r>
              <a:rPr lang="fr" u="sng">
                <a:solidFill>
                  <a:schemeClr val="hlink"/>
                </a:solidFill>
                <a:hlinkClick r:id="rId3"/>
              </a:rPr>
              <a:t>https://www.ina.fr/ina-eclaire-actu/video/cab7600764601/informatique-et-liberte</a:t>
            </a:r>
            <a:r>
              <a:rPr lang="fr"/>
              <a:t> </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3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Création de la CNIL - 1978</a:t>
            </a:r>
            <a:endParaRPr/>
          </a:p>
        </p:txBody>
      </p:sp>
      <p:sp>
        <p:nvSpPr>
          <p:cNvPr id="174" name="Google Shape;174;p3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a:t>Le gouvernement crée </a:t>
            </a:r>
            <a:r>
              <a:rPr lang="fr"/>
              <a:t>une commission chargée de veiller à la protection des données des citoyens dans le cadre de la nouvelle loi de 1978 relative à l’informatique, aux fichiers et aux libertés (dite “Loi informatique et libertés”). </a:t>
            </a:r>
            <a:endParaRPr/>
          </a:p>
          <a:p>
            <a:pPr indent="0" lvl="0" marL="0" rtl="0" algn="l">
              <a:spcBef>
                <a:spcPts val="1200"/>
              </a:spcBef>
              <a:spcAft>
                <a:spcPts val="0"/>
              </a:spcAft>
              <a:buClr>
                <a:schemeClr val="dk1"/>
              </a:buClr>
              <a:buSzPts val="1100"/>
              <a:buFont typeface="Arial"/>
              <a:buNone/>
            </a:pPr>
            <a:r>
              <a:rPr lang="fr"/>
              <a:t>La CNIL a pour mission d’accompagner les évolutions informatiques, en veillant à ce que cela reste un progrès pour les citoyens, sans atteinte à leur liberté ni à leur vie privée.</a:t>
            </a:r>
            <a:endParaRPr/>
          </a:p>
          <a:p>
            <a:pPr indent="0" lvl="0" marL="0" rtl="0" algn="l">
              <a:spcBef>
                <a:spcPts val="1200"/>
              </a:spcBef>
              <a:spcAft>
                <a:spcPts val="0"/>
              </a:spcAft>
              <a:buClr>
                <a:schemeClr val="dk1"/>
              </a:buClr>
              <a:buSzPts val="1100"/>
              <a:buFont typeface="Arial"/>
              <a:buNone/>
            </a:pPr>
            <a:r>
              <a:t/>
            </a:r>
            <a:endParaRPr/>
          </a:p>
          <a:p>
            <a:pPr indent="0" lvl="0" marL="0" rtl="0" algn="l">
              <a:spcBef>
                <a:spcPts val="1200"/>
              </a:spcBef>
              <a:spcAft>
                <a:spcPts val="1200"/>
              </a:spcAft>
              <a:buNone/>
            </a:pPr>
            <a:r>
              <a:t/>
            </a:r>
            <a:endParaRPr/>
          </a:p>
        </p:txBody>
      </p:sp>
      <p:pic>
        <p:nvPicPr>
          <p:cNvPr id="175" name="Google Shape;175;p32"/>
          <p:cNvPicPr preferRelativeResize="0"/>
          <p:nvPr/>
        </p:nvPicPr>
        <p:blipFill rotWithShape="1">
          <a:blip r:embed="rId3">
            <a:alphaModFix/>
          </a:blip>
          <a:srcRect b="13537" l="0" r="0" t="14643"/>
          <a:stretch/>
        </p:blipFill>
        <p:spPr>
          <a:xfrm>
            <a:off x="3513963" y="3261825"/>
            <a:ext cx="2116074" cy="1016501"/>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9" name="Shape 179"/>
        <p:cNvGrpSpPr/>
        <p:nvPr/>
      </p:nvGrpSpPr>
      <p:grpSpPr>
        <a:xfrm>
          <a:off x="0" y="0"/>
          <a:ext cx="0" cy="0"/>
          <a:chOff x="0" y="0"/>
          <a:chExt cx="0" cy="0"/>
        </a:xfrm>
      </p:grpSpPr>
      <p:sp>
        <p:nvSpPr>
          <p:cNvPr id="180" name="Google Shape;180;p3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Directive européenne - 1995</a:t>
            </a:r>
            <a:endParaRPr/>
          </a:p>
        </p:txBody>
      </p:sp>
      <p:sp>
        <p:nvSpPr>
          <p:cNvPr id="181" name="Google Shape;181;p3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fr"/>
              <a:t>Création d’un socle commun à tous les pays de l’UE en matière de protection des données personnelles.</a:t>
            </a:r>
            <a:endParaRPr/>
          </a:p>
          <a:p>
            <a:pPr indent="0" lvl="0" marL="0" rtl="0" algn="l">
              <a:spcBef>
                <a:spcPts val="1200"/>
              </a:spcBef>
              <a:spcAft>
                <a:spcPts val="0"/>
              </a:spcAft>
              <a:buClr>
                <a:schemeClr val="dk1"/>
              </a:buClr>
              <a:buSzPts val="1100"/>
              <a:buFont typeface="Arial"/>
              <a:buNone/>
            </a:pPr>
            <a:r>
              <a:t/>
            </a:r>
            <a:endParaRPr/>
          </a:p>
          <a:p>
            <a:pPr indent="0" lvl="0" marL="0" rtl="0" algn="l">
              <a:spcBef>
                <a:spcPts val="1200"/>
              </a:spcBef>
              <a:spcAft>
                <a:spcPts val="1200"/>
              </a:spcAft>
              <a:buNone/>
            </a:pPr>
            <a:r>
              <a:t/>
            </a:r>
            <a:endParaRPr/>
          </a:p>
        </p:txBody>
      </p:sp>
      <p:pic>
        <p:nvPicPr>
          <p:cNvPr id="182" name="Google Shape;182;p33"/>
          <p:cNvPicPr preferRelativeResize="0"/>
          <p:nvPr/>
        </p:nvPicPr>
        <p:blipFill>
          <a:blip r:embed="rId3">
            <a:alphaModFix/>
          </a:blip>
          <a:stretch>
            <a:fillRect/>
          </a:stretch>
        </p:blipFill>
        <p:spPr>
          <a:xfrm>
            <a:off x="3614601" y="2571750"/>
            <a:ext cx="1914800" cy="127652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3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Réforme de la loi Informatique et Libertés - 2004</a:t>
            </a:r>
            <a:endParaRPr/>
          </a:p>
        </p:txBody>
      </p:sp>
      <p:sp>
        <p:nvSpPr>
          <p:cNvPr id="188" name="Google Shape;188;p3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Clr>
                <a:schemeClr val="dk1"/>
              </a:buClr>
              <a:buSzPts val="1100"/>
              <a:buFont typeface="Arial"/>
              <a:buNone/>
            </a:pPr>
            <a:r>
              <a:rPr lang="fr"/>
              <a:t>Réforme de la loi de 1978, s</a:t>
            </a:r>
            <a:r>
              <a:rPr lang="fr"/>
              <a:t>ous l’impulsion des avancées technologiques et des usages numériques.</a:t>
            </a:r>
            <a:endParaRPr/>
          </a:p>
          <a:p>
            <a:pPr indent="0" lvl="0" marL="0" rtl="0" algn="l">
              <a:spcBef>
                <a:spcPts val="1200"/>
              </a:spcBef>
              <a:spcAft>
                <a:spcPts val="0"/>
              </a:spcAft>
              <a:buClr>
                <a:schemeClr val="dk1"/>
              </a:buClr>
              <a:buSzPts val="1100"/>
              <a:buFont typeface="Arial"/>
              <a:buNone/>
            </a:pPr>
            <a:r>
              <a:rPr lang="fr"/>
              <a:t>Depuis, on parle de “données à caractère personnel” et plus d’”informations nominatives”. Cette nouvelle terminologie élargit le champ de protection, en adoptant une vision plus vaste de ce qu’est un traitement d’informations, qui ne sont pas nécessairement nominatives.</a:t>
            </a:r>
            <a:endParaRPr/>
          </a:p>
          <a:p>
            <a:pPr indent="0" lvl="0" marL="0" rtl="0" algn="l">
              <a:spcBef>
                <a:spcPts val="1200"/>
              </a:spcBef>
              <a:spcAft>
                <a:spcPts val="0"/>
              </a:spcAft>
              <a:buClr>
                <a:schemeClr val="dk1"/>
              </a:buClr>
              <a:buSzPts val="1100"/>
              <a:buFont typeface="Arial"/>
              <a:buNone/>
            </a:pPr>
            <a:r>
              <a:rPr lang="fr"/>
              <a:t>La protection s’étend aux fichiers papier.</a:t>
            </a:r>
            <a:endParaRPr/>
          </a:p>
          <a:p>
            <a:pPr indent="0" lvl="0" marL="0" rtl="0" algn="l">
              <a:spcBef>
                <a:spcPts val="1200"/>
              </a:spcBef>
              <a:spcAft>
                <a:spcPts val="0"/>
              </a:spcAft>
              <a:buClr>
                <a:schemeClr val="dk1"/>
              </a:buClr>
              <a:buSzPts val="1100"/>
              <a:buFont typeface="Arial"/>
              <a:buNone/>
            </a:pPr>
            <a:r>
              <a:rPr lang="fr"/>
              <a:t>Le secteur privé est soumis à un régime d’autorisation préalable pour certains traitements.</a:t>
            </a:r>
            <a:endParaRPr/>
          </a:p>
          <a:p>
            <a:pPr indent="0" lvl="0" marL="0" rtl="0" algn="l">
              <a:spcBef>
                <a:spcPts val="1200"/>
              </a:spcBef>
              <a:spcAft>
                <a:spcPts val="1200"/>
              </a:spcAft>
              <a:buNone/>
            </a:pPr>
            <a:r>
              <a:rPr lang="fr"/>
              <a:t>La CNIL a désormais le droit de sanctionner les manquements.</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3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Scandale PRISM - 2013</a:t>
            </a:r>
            <a:endParaRPr/>
          </a:p>
        </p:txBody>
      </p:sp>
      <p:sp>
        <p:nvSpPr>
          <p:cNvPr id="194" name="Google Shape;194;p3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a:t>La NSA</a:t>
            </a:r>
            <a:r>
              <a:rPr lang="fr"/>
              <a:t> (National Security Agency) est accusée de </a:t>
            </a:r>
            <a:r>
              <a:rPr lang="fr"/>
              <a:t>collecter et d’analyser les données laissées en ligne par des millions de personnes aux Etats-Unis et ailleurs dans le monde. Les révélations portent notamment sur les utilisateurs d'AOL, Apple, Facebook, Google, YouTube, Microsoft, Skype et Yahoo!.</a:t>
            </a:r>
            <a:endParaRPr/>
          </a:p>
          <a:p>
            <a:pPr indent="0" lvl="0" marL="0" rtl="0" algn="l">
              <a:spcBef>
                <a:spcPts val="1200"/>
              </a:spcBef>
              <a:spcAft>
                <a:spcPts val="0"/>
              </a:spcAft>
              <a:buNone/>
            </a:pPr>
            <a:r>
              <a:rPr lang="fr"/>
              <a:t>Elle est également accusée d’avoir </a:t>
            </a:r>
            <a:r>
              <a:rPr lang="fr"/>
              <a:t>espionné</a:t>
            </a:r>
            <a:r>
              <a:rPr lang="fr"/>
              <a:t> d’autres états, </a:t>
            </a:r>
            <a:r>
              <a:rPr lang="fr"/>
              <a:t>notamment les Européens. Plusieurs sites protégés de l'Union européenne auraient ainsi été mis sur écoute.</a:t>
            </a:r>
            <a:endParaRPr/>
          </a:p>
          <a:p>
            <a:pPr indent="0" lvl="0" marL="0" rtl="0" algn="l">
              <a:spcBef>
                <a:spcPts val="1200"/>
              </a:spcBef>
              <a:spcAft>
                <a:spcPts val="1200"/>
              </a:spcAft>
              <a:buNone/>
            </a:pPr>
            <a:r>
              <a:rPr lang="fr"/>
              <a:t>Edward Snowden est un informaticien américain ayant travaillé pour la CIA et la NSA</a:t>
            </a:r>
            <a:r>
              <a:rPr lang="fr"/>
              <a:t>. Il est à l’origine de ces révélations.</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36"/>
          <p:cNvSpPr txBox="1"/>
          <p:nvPr>
            <p:ph type="title"/>
          </p:nvPr>
        </p:nvSpPr>
        <p:spPr>
          <a:xfrm>
            <a:off x="311700" y="445025"/>
            <a:ext cx="8520600" cy="980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Loi pour une République numérique et directive “police - justice” - 2016</a:t>
            </a:r>
            <a:endParaRPr/>
          </a:p>
        </p:txBody>
      </p:sp>
      <p:sp>
        <p:nvSpPr>
          <p:cNvPr id="200" name="Google Shape;200;p3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Clr>
                <a:schemeClr val="dk1"/>
              </a:buClr>
              <a:buSzPts val="1100"/>
              <a:buFont typeface="Arial"/>
              <a:buNone/>
            </a:pPr>
            <a:r>
              <a:t/>
            </a:r>
            <a:endParaRPr/>
          </a:p>
          <a:p>
            <a:pPr indent="0" lvl="0" marL="0" rtl="0" algn="l">
              <a:spcBef>
                <a:spcPts val="1200"/>
              </a:spcBef>
              <a:spcAft>
                <a:spcPts val="0"/>
              </a:spcAft>
              <a:buNone/>
            </a:pPr>
            <a:r>
              <a:rPr lang="fr"/>
              <a:t>En France : la loi pour une République numérique qui enrichit la loi Informatique et Libertés et renforce les droits des personnes. Chacun peut décider et contrôler les usages qui sont faits de ses données :</a:t>
            </a:r>
            <a:endParaRPr/>
          </a:p>
          <a:p>
            <a:pPr indent="-342900" lvl="0" marL="457200" rtl="0" algn="l">
              <a:spcBef>
                <a:spcPts val="1200"/>
              </a:spcBef>
              <a:spcAft>
                <a:spcPts val="0"/>
              </a:spcAft>
              <a:buSzPts val="1800"/>
              <a:buChar char="-"/>
            </a:pPr>
            <a:r>
              <a:rPr lang="fr"/>
              <a:t>Le droit à l’oubli pour les mineurs</a:t>
            </a:r>
            <a:endParaRPr/>
          </a:p>
          <a:p>
            <a:pPr indent="-342900" lvl="0" marL="457200" rtl="0" algn="l">
              <a:spcBef>
                <a:spcPts val="0"/>
              </a:spcBef>
              <a:spcAft>
                <a:spcPts val="0"/>
              </a:spcAft>
              <a:buSzPts val="1800"/>
              <a:buChar char="-"/>
            </a:pPr>
            <a:r>
              <a:rPr lang="fr"/>
              <a:t>La possibilité d’organiser le sort de ses données personnelles après la mort</a:t>
            </a:r>
            <a:endParaRPr/>
          </a:p>
          <a:p>
            <a:pPr indent="-342900" lvl="0" marL="457200" rtl="0" algn="l">
              <a:spcBef>
                <a:spcPts val="0"/>
              </a:spcBef>
              <a:spcAft>
                <a:spcPts val="0"/>
              </a:spcAft>
              <a:buSzPts val="1800"/>
              <a:buChar char="-"/>
            </a:pPr>
            <a:r>
              <a:rPr lang="fr"/>
              <a:t>La possibilité d’exercer ses droits par voie électronique</a:t>
            </a:r>
            <a:endParaRPr/>
          </a:p>
          <a:p>
            <a:pPr indent="0" lvl="0" marL="0" rtl="0" algn="l">
              <a:spcBef>
                <a:spcPts val="1200"/>
              </a:spcBef>
              <a:spcAft>
                <a:spcPts val="1200"/>
              </a:spcAft>
              <a:buNone/>
            </a:pPr>
            <a:r>
              <a:rPr lang="fr"/>
              <a:t>En Europe : la directive “police - justice” est dédiée à l’encadrement des traitements mis en œuvre à des fins de prévention, de détection et de répression des infractions.</a:t>
            </a:r>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4" name="Shape 204"/>
        <p:cNvGrpSpPr/>
        <p:nvPr/>
      </p:nvGrpSpPr>
      <p:grpSpPr>
        <a:xfrm>
          <a:off x="0" y="0"/>
          <a:ext cx="0" cy="0"/>
          <a:chOff x="0" y="0"/>
          <a:chExt cx="0" cy="0"/>
        </a:xfrm>
      </p:grpSpPr>
      <p:sp>
        <p:nvSpPr>
          <p:cNvPr id="205" name="Google Shape;205;p3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Cambridge Analytica - 2018</a:t>
            </a:r>
            <a:endParaRPr/>
          </a:p>
        </p:txBody>
      </p:sp>
      <p:pic>
        <p:nvPicPr>
          <p:cNvPr descr="Le réseau social créé par Mark Zuckerberg affronte l’une des pires crises de son histoire. La société britannique Cambridge Analytica est soupçonnée d’avoir siphonné les données personnelles de dizaines de millions d’Américains sur Facebook, par l’intermédiaire d’un sous-traitant. Ce sont des révélations du Guardian et du New York Times qui mettent en cause cette entreprise, qui a, par ailleurs, joué un rôle de premier plan dans la campagne présidentielle de Donald Trump.&#10;&#10;L’affaire Cambridge Analytica est rapidement devenue une affaire Facebook après la découverte qu’en 2015 Facebook autorisait cette collecte de données. Le réseau social est accusé de ne pas avoir suffisamment protégé les données de ses utilisateurs.&#10;&#10;Quels sont les enjeux de ce scandale ? Quelles en sont les conséquences pour la firme, et pour nos données ?&#10;_______&#10;&#10;Abonnez-vous à la chaîne YouTube du Monde dès maintenant : &#10;http://www.youtube.com/subscription_center?add_user=LeMonde&#10;_______&#10;&#10;Abonnez-vous à la chaîne YouTube du Monde dès maintenant : &#10;http://www.youtube.com/subscription_center?add_user=LeMonde" id="206" name="Google Shape;206;p37" title="Affaire Cambridge Analytica : pourquoi c’est grave pour Facebook et ses utilisateurs">
            <a:hlinkClick r:id="rId3"/>
          </p:cNvPr>
          <p:cNvPicPr preferRelativeResize="0"/>
          <p:nvPr/>
        </p:nvPicPr>
        <p:blipFill>
          <a:blip r:embed="rId4">
            <a:alphaModFix/>
          </a:blip>
          <a:stretch>
            <a:fillRect/>
          </a:stretch>
        </p:blipFill>
        <p:spPr>
          <a:xfrm>
            <a:off x="2613750" y="1215750"/>
            <a:ext cx="3916500" cy="2937375"/>
          </a:xfrm>
          <a:prstGeom prst="rect">
            <a:avLst/>
          </a:prstGeom>
          <a:noFill/>
          <a:ln>
            <a:noFill/>
          </a:ln>
        </p:spPr>
      </p:pic>
      <p:sp>
        <p:nvSpPr>
          <p:cNvPr id="207" name="Google Shape;207;p37"/>
          <p:cNvSpPr txBox="1"/>
          <p:nvPr>
            <p:ph idx="1" type="body"/>
          </p:nvPr>
        </p:nvSpPr>
        <p:spPr>
          <a:xfrm>
            <a:off x="311700" y="4325500"/>
            <a:ext cx="8520600" cy="433800"/>
          </a:xfrm>
          <a:prstGeom prst="rect">
            <a:avLst/>
          </a:prstGeom>
        </p:spPr>
        <p:txBody>
          <a:bodyPr anchorCtr="0" anchor="t" bIns="91425" lIns="91425" spcFirstLastPara="1" rIns="91425" wrap="square" tIns="91425">
            <a:normAutofit/>
          </a:bodyPr>
          <a:lstStyle/>
          <a:p>
            <a:pPr indent="0" lvl="0" marL="0" rtl="0" algn="ctr">
              <a:lnSpc>
                <a:spcPct val="95000"/>
              </a:lnSpc>
              <a:spcBef>
                <a:spcPts val="0"/>
              </a:spcBef>
              <a:spcAft>
                <a:spcPts val="1200"/>
              </a:spcAft>
              <a:buSzPts val="1018"/>
              <a:buNone/>
            </a:pPr>
            <a:r>
              <a:rPr lang="fr" sz="1465" u="sng">
                <a:solidFill>
                  <a:schemeClr val="hlink"/>
                </a:solidFill>
                <a:hlinkClick r:id="rId5"/>
              </a:rPr>
              <a:t>https://www.youtube.com/watch?v=KZI9PRg32Pg</a:t>
            </a:r>
            <a:r>
              <a:rPr lang="fr" sz="1465"/>
              <a:t> </a:t>
            </a:r>
            <a:endParaRPr sz="1465"/>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3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RGPD - 2018</a:t>
            </a:r>
            <a:endParaRPr/>
          </a:p>
        </p:txBody>
      </p:sp>
      <p:sp>
        <p:nvSpPr>
          <p:cNvPr id="213" name="Google Shape;213;p3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fr">
                <a:solidFill>
                  <a:srgbClr val="9900FF"/>
                </a:solidFill>
              </a:rPr>
              <a:t>Le Règlement Général pour la Protection des Données (RGPD, ou “GDPR” en anglais “General Data Protection Regulation”) </a:t>
            </a:r>
            <a:r>
              <a:rPr b="1" lang="fr">
                <a:solidFill>
                  <a:srgbClr val="9900FF"/>
                </a:solidFill>
              </a:rPr>
              <a:t>est la nouvelle réglementation européenne en matière de protection des données.</a:t>
            </a:r>
            <a:endParaRPr b="1">
              <a:solidFill>
                <a:srgbClr val="9900FF"/>
              </a:solidFill>
            </a:endParaRPr>
          </a:p>
          <a:p>
            <a:pPr indent="0" lvl="0" marL="0" rtl="0" algn="l">
              <a:spcBef>
                <a:spcPts val="1200"/>
              </a:spcBef>
              <a:spcAft>
                <a:spcPts val="0"/>
              </a:spcAft>
              <a:buNone/>
            </a:pPr>
            <a:r>
              <a:rPr lang="fr"/>
              <a:t>La France conserve sa propre législation “Informatique et Libertés” en complément, c’est-à-dire que la loi informatique et libertés reste pleinement en vigueur.</a:t>
            </a:r>
            <a:endParaRPr/>
          </a:p>
          <a:p>
            <a:pPr indent="0" lvl="0" marL="0" rtl="0" algn="l">
              <a:spcBef>
                <a:spcPts val="1200"/>
              </a:spcBef>
              <a:spcAft>
                <a:spcPts val="1200"/>
              </a:spcAft>
              <a:buNone/>
            </a:pPr>
            <a:r>
              <a:rPr lang="fr"/>
              <a:t>Il est entré en service le </a:t>
            </a:r>
            <a:r>
              <a:rPr lang="fr"/>
              <a:t>25 mai 2018.</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7" name="Shape 217"/>
        <p:cNvGrpSpPr/>
        <p:nvPr/>
      </p:nvGrpSpPr>
      <p:grpSpPr>
        <a:xfrm>
          <a:off x="0" y="0"/>
          <a:ext cx="0" cy="0"/>
          <a:chOff x="0" y="0"/>
          <a:chExt cx="0" cy="0"/>
        </a:xfrm>
      </p:grpSpPr>
      <p:sp>
        <p:nvSpPr>
          <p:cNvPr id="218" name="Google Shape;218;p39"/>
          <p:cNvSpPr txBox="1"/>
          <p:nvPr>
            <p:ph idx="1" type="body"/>
          </p:nvPr>
        </p:nvSpPr>
        <p:spPr>
          <a:xfrm>
            <a:off x="311713" y="4226350"/>
            <a:ext cx="8520600" cy="408900"/>
          </a:xfrm>
          <a:prstGeom prst="rect">
            <a:avLst/>
          </a:prstGeom>
        </p:spPr>
        <p:txBody>
          <a:bodyPr anchorCtr="0" anchor="t" bIns="91425" lIns="91425" spcFirstLastPara="1" rIns="91425" wrap="square" tIns="91425">
            <a:normAutofit fontScale="85000" lnSpcReduction="20000"/>
          </a:bodyPr>
          <a:lstStyle/>
          <a:p>
            <a:pPr indent="0" lvl="0" marL="0" rtl="0" algn="ctr">
              <a:spcBef>
                <a:spcPts val="0"/>
              </a:spcBef>
              <a:spcAft>
                <a:spcPts val="1200"/>
              </a:spcAft>
              <a:buNone/>
            </a:pPr>
            <a:r>
              <a:rPr lang="fr" u="sng">
                <a:solidFill>
                  <a:schemeClr val="hlink"/>
                </a:solidFill>
                <a:hlinkClick r:id="rId3"/>
              </a:rPr>
              <a:t>https://www.youtube.com/watch?v=Th-rzrc3488</a:t>
            </a:r>
            <a:r>
              <a:rPr lang="fr"/>
              <a:t> </a:t>
            </a:r>
            <a:endParaRPr/>
          </a:p>
        </p:txBody>
      </p:sp>
      <p:pic>
        <p:nvPicPr>
          <p:cNvPr descr="A l'occasion des 40 ans de la CNIL, voici une sélection d'extraits télévisuels qui ont marqué l'histoire de la loi informatique et libertés. A retrouver prochainement sur un site dédié !" id="219" name="Google Shape;219;p39" title="ARCHIVES TV | La CNIL, 40 ans au service des libertés !">
            <a:hlinkClick r:id="rId4"/>
          </p:cNvPr>
          <p:cNvPicPr preferRelativeResize="0"/>
          <p:nvPr/>
        </p:nvPicPr>
        <p:blipFill>
          <a:blip r:embed="rId5">
            <a:alphaModFix/>
          </a:blip>
          <a:stretch>
            <a:fillRect/>
          </a:stretch>
        </p:blipFill>
        <p:spPr>
          <a:xfrm>
            <a:off x="2101238" y="462225"/>
            <a:ext cx="4941526" cy="37061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9"/>
                                        </p:tgtEl>
                                        <p:attrNameLst>
                                          <p:attrName>style.visibility</p:attrName>
                                        </p:attrNameLst>
                                      </p:cBhvr>
                                      <p:to>
                                        <p:strVal val="visible"/>
                                      </p:to>
                                    </p:set>
                                    <p:animEffect filter="fade" transition="in">
                                      <p:cBhvr>
                                        <p:cTn dur="1000"/>
                                        <p:tgtEl>
                                          <p:spTgt spid="21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4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388620" lvl="0" marL="457200" rtl="0" algn="l">
              <a:spcBef>
                <a:spcPts val="0"/>
              </a:spcBef>
              <a:spcAft>
                <a:spcPts val="0"/>
              </a:spcAft>
              <a:buSzPct val="100000"/>
              <a:buAutoNum type="romanUcPeriod"/>
            </a:pPr>
            <a:r>
              <a:rPr lang="fr"/>
              <a:t>Introduction au RGPD</a:t>
            </a:r>
            <a:endParaRPr/>
          </a:p>
        </p:txBody>
      </p:sp>
      <p:sp>
        <p:nvSpPr>
          <p:cNvPr id="225" name="Google Shape;225;p4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a:t>1.	Qu’est-ce qu’une donnée à caractère personnel ?</a:t>
            </a:r>
            <a:endParaRPr/>
          </a:p>
          <a:p>
            <a:pPr indent="0" lvl="0" marL="0" rtl="0" algn="l">
              <a:spcBef>
                <a:spcPts val="1200"/>
              </a:spcBef>
              <a:spcAft>
                <a:spcPts val="0"/>
              </a:spcAft>
              <a:buNone/>
            </a:pPr>
            <a:r>
              <a:rPr lang="fr"/>
              <a:t>2.	Pourquoi protéger les données ?</a:t>
            </a:r>
            <a:endParaRPr/>
          </a:p>
          <a:p>
            <a:pPr indent="0" lvl="0" marL="0" rtl="0" algn="l">
              <a:spcBef>
                <a:spcPts val="1200"/>
              </a:spcBef>
              <a:spcAft>
                <a:spcPts val="0"/>
              </a:spcAft>
              <a:buNone/>
            </a:pPr>
            <a:r>
              <a:rPr lang="fr"/>
              <a:t>3.	Historique de la protection des données personnelles</a:t>
            </a:r>
            <a:endParaRPr/>
          </a:p>
          <a:p>
            <a:pPr indent="0" lvl="0" marL="0" rtl="0" algn="l">
              <a:spcBef>
                <a:spcPts val="1200"/>
              </a:spcBef>
              <a:spcAft>
                <a:spcPts val="0"/>
              </a:spcAft>
              <a:buNone/>
            </a:pPr>
            <a:r>
              <a:rPr lang="fr">
                <a:solidFill>
                  <a:srgbClr val="9900FF"/>
                </a:solidFill>
              </a:rPr>
              <a:t>4.	A qui s’applique le RGPD ?</a:t>
            </a:r>
            <a:endParaRPr>
              <a:solidFill>
                <a:srgbClr val="9900FF"/>
              </a:solidFill>
            </a:endParaRPr>
          </a:p>
          <a:p>
            <a:pPr indent="0" lvl="0" marL="0" rtl="0" algn="l">
              <a:spcBef>
                <a:spcPts val="1200"/>
              </a:spcBef>
              <a:spcAft>
                <a:spcPts val="0"/>
              </a:spcAft>
              <a:buNone/>
            </a:pPr>
            <a:r>
              <a:rPr lang="fr"/>
              <a:t>5.	Enjeux et opportunités du RGPD</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4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Définitions : le traitement des données, c’est quoi ?</a:t>
            </a:r>
            <a:endParaRPr/>
          </a:p>
        </p:txBody>
      </p:sp>
      <p:sp>
        <p:nvSpPr>
          <p:cNvPr id="231" name="Google Shape;231;p4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70000" lnSpcReduction="20000"/>
          </a:bodyPr>
          <a:lstStyle/>
          <a:p>
            <a:pPr indent="0" lvl="0" marL="0" rtl="0" algn="l">
              <a:spcBef>
                <a:spcPts val="0"/>
              </a:spcBef>
              <a:spcAft>
                <a:spcPts val="0"/>
              </a:spcAft>
              <a:buNone/>
            </a:pPr>
            <a:r>
              <a:rPr b="1" lang="fr">
                <a:solidFill>
                  <a:srgbClr val="9900FF"/>
                </a:solidFill>
              </a:rPr>
              <a:t>C'est toute opération portant sur des données personnelles, quel que soit le procédé utilisé. Par exemple, enregistrer, organiser, conserver, modifier, rapprocher avec d'autres données, transmettre, etc. des données personnelles.</a:t>
            </a:r>
            <a:endParaRPr b="1">
              <a:solidFill>
                <a:srgbClr val="9900FF"/>
              </a:solidFill>
            </a:endParaRPr>
          </a:p>
          <a:p>
            <a:pPr indent="0" lvl="0" marL="0" rtl="0" algn="l">
              <a:spcBef>
                <a:spcPts val="1200"/>
              </a:spcBef>
              <a:spcAft>
                <a:spcPts val="0"/>
              </a:spcAft>
              <a:buNone/>
            </a:pPr>
            <a:r>
              <a:rPr b="1" lang="fr"/>
              <a:t>La simple consultation des données est aussi un traitement.</a:t>
            </a:r>
            <a:endParaRPr b="1"/>
          </a:p>
          <a:p>
            <a:pPr indent="0" lvl="0" marL="0" rtl="0" algn="l">
              <a:spcBef>
                <a:spcPts val="1200"/>
              </a:spcBef>
              <a:spcAft>
                <a:spcPts val="0"/>
              </a:spcAft>
              <a:buNone/>
            </a:pPr>
            <a:r>
              <a:rPr lang="fr"/>
              <a:t>Des fichiers mais pas seulement :</a:t>
            </a:r>
            <a:endParaRPr/>
          </a:p>
          <a:p>
            <a:pPr indent="0" lvl="0" marL="0" rtl="0" algn="l">
              <a:spcBef>
                <a:spcPts val="1200"/>
              </a:spcBef>
              <a:spcAft>
                <a:spcPts val="0"/>
              </a:spcAft>
              <a:buNone/>
            </a:pPr>
            <a:r>
              <a:rPr lang="fr"/>
              <a:t>Un traitement n'est donc pas uniquement un fichier, une base de données ou un tableau Excel. Il peut s'agir aussi d'une installation de vidéosurveillance, d'un système de paiement par carte bancaire ou de reconnaissance biométrique, d'une application pour smartphone, etc.</a:t>
            </a:r>
            <a:endParaRPr/>
          </a:p>
          <a:p>
            <a:pPr indent="0" lvl="0" marL="0" rtl="0" algn="l">
              <a:spcBef>
                <a:spcPts val="1200"/>
              </a:spcBef>
              <a:spcAft>
                <a:spcPts val="0"/>
              </a:spcAft>
              <a:buNone/>
            </a:pPr>
            <a:r>
              <a:rPr lang="fr"/>
              <a:t>Informatisés mais pas uniquement :</a:t>
            </a:r>
            <a:endParaRPr/>
          </a:p>
          <a:p>
            <a:pPr indent="0" lvl="0" marL="0" rtl="0" algn="l">
              <a:spcBef>
                <a:spcPts val="1200"/>
              </a:spcBef>
              <a:spcAft>
                <a:spcPts val="0"/>
              </a:spcAft>
              <a:buNone/>
            </a:pPr>
            <a:r>
              <a:rPr lang="fr"/>
              <a:t>Un fichier papier organisé selon un plan de classement, des formulaires papiers nominatifs ou des dossiers de candidatures classés par ordre alphabétique ou chronologique sont aussi des traitements de données personnelles.</a:t>
            </a:r>
            <a:endParaRPr/>
          </a:p>
          <a:p>
            <a:pPr indent="0" lvl="0" marL="0" rtl="0" algn="r">
              <a:spcBef>
                <a:spcPts val="1200"/>
              </a:spcBef>
              <a:spcAft>
                <a:spcPts val="1200"/>
              </a:spcAft>
              <a:buNone/>
            </a:pPr>
            <a:r>
              <a:rPr lang="fr"/>
              <a:t>Source : CNIL.fr</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5" name="Shape 235"/>
        <p:cNvGrpSpPr/>
        <p:nvPr/>
      </p:nvGrpSpPr>
      <p:grpSpPr>
        <a:xfrm>
          <a:off x="0" y="0"/>
          <a:ext cx="0" cy="0"/>
          <a:chOff x="0" y="0"/>
          <a:chExt cx="0" cy="0"/>
        </a:xfrm>
      </p:grpSpPr>
      <p:sp>
        <p:nvSpPr>
          <p:cNvPr id="236" name="Google Shape;236;p4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Définitions : le responsable de traitement (RT), c’est qui ?</a:t>
            </a:r>
            <a:endParaRPr/>
          </a:p>
        </p:txBody>
      </p:sp>
      <p:sp>
        <p:nvSpPr>
          <p:cNvPr id="237" name="Google Shape;237;p4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b="1" lang="fr">
                <a:solidFill>
                  <a:srgbClr val="9900FF"/>
                </a:solidFill>
              </a:rPr>
              <a:t>Le responsable de traitement est la personne morale (entreprise, commune, etc.) ou physique qui détermine les finalités et les moyens d’un traitement, c’est à dire l’objectif et la façon de le réaliser. </a:t>
            </a:r>
            <a:endParaRPr b="1">
              <a:solidFill>
                <a:srgbClr val="9900FF"/>
              </a:solidFill>
            </a:endParaRPr>
          </a:p>
          <a:p>
            <a:pPr indent="0" lvl="0" marL="0" rtl="0" algn="l">
              <a:spcBef>
                <a:spcPts val="1200"/>
              </a:spcBef>
              <a:spcAft>
                <a:spcPts val="0"/>
              </a:spcAft>
              <a:buNone/>
            </a:pPr>
            <a:r>
              <a:rPr lang="fr"/>
              <a:t>En pratique, il s'agit généralement de la personne morale (entreprise, collectivité, etc.) incarnée par son représentant légal (président, maire, etc.).</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r">
              <a:spcBef>
                <a:spcPts val="1200"/>
              </a:spcBef>
              <a:spcAft>
                <a:spcPts val="1200"/>
              </a:spcAft>
              <a:buNone/>
            </a:pPr>
            <a:r>
              <a:rPr lang="fr"/>
              <a:t>Source : CNIL.fr</a:t>
            </a:r>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sp>
        <p:nvSpPr>
          <p:cNvPr id="242" name="Google Shape;242;p4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A qui s’applique le RGPD ?</a:t>
            </a:r>
            <a:endParaRPr/>
          </a:p>
        </p:txBody>
      </p:sp>
      <p:sp>
        <p:nvSpPr>
          <p:cNvPr id="243" name="Google Shape;243;p4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70000" lnSpcReduction="20000"/>
          </a:bodyPr>
          <a:lstStyle/>
          <a:p>
            <a:pPr indent="0" lvl="0" marL="0" rtl="0" algn="l">
              <a:spcBef>
                <a:spcPts val="0"/>
              </a:spcBef>
              <a:spcAft>
                <a:spcPts val="0"/>
              </a:spcAft>
              <a:buClr>
                <a:schemeClr val="dk1"/>
              </a:buClr>
              <a:buSzPct val="61111"/>
              <a:buFont typeface="Arial"/>
              <a:buNone/>
            </a:pPr>
            <a:r>
              <a:rPr lang="fr"/>
              <a:t>Il s’applique aux traitements de données personnelles effectués par :</a:t>
            </a:r>
            <a:endParaRPr/>
          </a:p>
          <a:p>
            <a:pPr indent="-308610" lvl="0" marL="457200" rtl="0" algn="l">
              <a:spcBef>
                <a:spcPts val="1200"/>
              </a:spcBef>
              <a:spcAft>
                <a:spcPts val="0"/>
              </a:spcAft>
              <a:buClr>
                <a:srgbClr val="9900FF"/>
              </a:buClr>
              <a:buSzPct val="100000"/>
              <a:buChar char="-"/>
            </a:pPr>
            <a:r>
              <a:rPr b="1" lang="fr">
                <a:solidFill>
                  <a:srgbClr val="9900FF"/>
                </a:solidFill>
              </a:rPr>
              <a:t>Un organisme établi sur le territoire de l’UE, que le traitement ait lieu ou non dans l’UE (critère d’établissement)</a:t>
            </a:r>
            <a:endParaRPr b="1">
              <a:solidFill>
                <a:srgbClr val="9900FF"/>
              </a:solidFill>
            </a:endParaRPr>
          </a:p>
          <a:p>
            <a:pPr indent="-308610" lvl="0" marL="457200" rtl="0" algn="l">
              <a:spcBef>
                <a:spcPts val="0"/>
              </a:spcBef>
              <a:spcAft>
                <a:spcPts val="0"/>
              </a:spcAft>
              <a:buClr>
                <a:srgbClr val="9900FF"/>
              </a:buClr>
              <a:buSzPct val="100000"/>
              <a:buChar char="-"/>
            </a:pPr>
            <a:r>
              <a:rPr b="1" lang="fr">
                <a:solidFill>
                  <a:srgbClr val="9900FF"/>
                </a:solidFill>
              </a:rPr>
              <a:t>Un organisme dont l’activité cible des personnes qui se trouvent dans l’UE (critère de ciblage)</a:t>
            </a:r>
            <a:endParaRPr b="1">
              <a:solidFill>
                <a:srgbClr val="9900FF"/>
              </a:solidFill>
            </a:endParaRPr>
          </a:p>
          <a:p>
            <a:pPr indent="0" lvl="0" marL="0" rtl="0" algn="l">
              <a:spcBef>
                <a:spcPts val="1200"/>
              </a:spcBef>
              <a:spcAft>
                <a:spcPts val="0"/>
              </a:spcAft>
              <a:buNone/>
            </a:pPr>
            <a:r>
              <a:rPr b="1" lang="fr"/>
              <a:t>Les responsables de traitement de tels organismes et leurs éventuels sous-traitants sont tous concernés par le RGPD.</a:t>
            </a:r>
            <a:endParaRPr b="1"/>
          </a:p>
          <a:p>
            <a:pPr indent="0" lvl="0" marL="0" rtl="0" algn="l">
              <a:spcBef>
                <a:spcPts val="1200"/>
              </a:spcBef>
              <a:spcAft>
                <a:spcPts val="0"/>
              </a:spcAft>
              <a:buNone/>
            </a:pPr>
            <a:r>
              <a:rPr lang="fr"/>
              <a:t>Les sous-traitants qui peuvent être concernés par le RGPD : </a:t>
            </a:r>
            <a:endParaRPr/>
          </a:p>
          <a:p>
            <a:pPr indent="-308610" lvl="0" marL="457200" rtl="0" algn="l">
              <a:spcBef>
                <a:spcPts val="1200"/>
              </a:spcBef>
              <a:spcAft>
                <a:spcPts val="0"/>
              </a:spcAft>
              <a:buSzPct val="100000"/>
              <a:buChar char="-"/>
            </a:pPr>
            <a:r>
              <a:rPr lang="fr"/>
              <a:t>Prestataires de services informatiques (hébergement, maintenance), entreprises de services numériques, de sécurité informatique</a:t>
            </a:r>
            <a:endParaRPr/>
          </a:p>
          <a:p>
            <a:pPr indent="-308610" lvl="0" marL="457200" rtl="0" algn="l">
              <a:spcBef>
                <a:spcPts val="0"/>
              </a:spcBef>
              <a:spcAft>
                <a:spcPts val="0"/>
              </a:spcAft>
              <a:buSzPct val="100000"/>
              <a:buChar char="-"/>
            </a:pPr>
            <a:r>
              <a:rPr lang="fr"/>
              <a:t>Agences de marketing ou de communication</a:t>
            </a:r>
            <a:endParaRPr/>
          </a:p>
          <a:p>
            <a:pPr indent="-308610" lvl="0" marL="457200" rtl="0" algn="l">
              <a:spcBef>
                <a:spcPts val="0"/>
              </a:spcBef>
              <a:spcAft>
                <a:spcPts val="0"/>
              </a:spcAft>
              <a:buSzPct val="100000"/>
              <a:buChar char="-"/>
            </a:pPr>
            <a:r>
              <a:rPr lang="fr"/>
              <a:t>Tout organisme offrant un service impliquant un traitement de données pour le compte d’un autre organisme</a:t>
            </a:r>
            <a:endParaRPr/>
          </a:p>
          <a:p>
            <a:pPr indent="0" lvl="0" marL="0" rtl="0" algn="l">
              <a:spcBef>
                <a:spcPts val="1200"/>
              </a:spcBef>
              <a:spcAft>
                <a:spcPts val="1200"/>
              </a:spcAft>
              <a:buNone/>
            </a:pPr>
            <a:r>
              <a:rPr lang="fr"/>
              <a:t>A noter : l</a:t>
            </a:r>
            <a:r>
              <a:rPr lang="fr"/>
              <a:t>e RGPD ne s’applique pas au traitement de données effectué au cours d’activités strictement personnelles (exception domestique). Exemple : une liste de contacts pour l’organisation d’un anniversaire.</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sp>
        <p:nvSpPr>
          <p:cNvPr id="248" name="Google Shape;248;p4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Qui veille au respect du RGPD ?</a:t>
            </a:r>
            <a:endParaRPr/>
          </a:p>
        </p:txBody>
      </p:sp>
      <p:sp>
        <p:nvSpPr>
          <p:cNvPr id="249" name="Google Shape;249;p4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fr"/>
              <a:t>En France, l</a:t>
            </a:r>
            <a:r>
              <a:rPr lang="fr"/>
              <a:t>e respect du RGPD est garanti par 3 acteurs complémentaires :</a:t>
            </a:r>
            <a:endParaRPr/>
          </a:p>
          <a:p>
            <a:pPr indent="-342900" lvl="0" marL="457200" rtl="0" algn="l">
              <a:spcBef>
                <a:spcPts val="1200"/>
              </a:spcBef>
              <a:spcAft>
                <a:spcPts val="0"/>
              </a:spcAft>
              <a:buSzPts val="1800"/>
              <a:buChar char="-"/>
            </a:pPr>
            <a:r>
              <a:rPr lang="fr"/>
              <a:t>La CNIL : accompagne les professionnels dans leur mise en conformité, aide les particuliers à maîtriser leurs données et exercer leurs droits</a:t>
            </a:r>
            <a:endParaRPr/>
          </a:p>
          <a:p>
            <a:pPr indent="-342900" lvl="0" marL="457200" rtl="0" algn="l">
              <a:spcBef>
                <a:spcPts val="0"/>
              </a:spcBef>
              <a:spcAft>
                <a:spcPts val="0"/>
              </a:spcAft>
              <a:buSzPts val="1800"/>
              <a:buChar char="-"/>
            </a:pPr>
            <a:r>
              <a:rPr lang="fr"/>
              <a:t>Le CEPD (Comité Européen de la Protection des Données) : coordonne l’action des CNIL de l’UE</a:t>
            </a:r>
            <a:endParaRPr/>
          </a:p>
          <a:p>
            <a:pPr indent="-342900" lvl="0" marL="457200" rtl="0" algn="l">
              <a:spcBef>
                <a:spcPts val="0"/>
              </a:spcBef>
              <a:spcAft>
                <a:spcPts val="0"/>
              </a:spcAft>
              <a:buSzPts val="1800"/>
              <a:buChar char="-"/>
            </a:pPr>
            <a:r>
              <a:rPr lang="fr"/>
              <a:t>La CJUE (Cour de Justice de l’Union Européenne) : veille à l’application de la législation et sanctionne les entités qui ne la respectent pas</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3" name="Shape 253"/>
        <p:cNvGrpSpPr/>
        <p:nvPr/>
      </p:nvGrpSpPr>
      <p:grpSpPr>
        <a:xfrm>
          <a:off x="0" y="0"/>
          <a:ext cx="0" cy="0"/>
          <a:chOff x="0" y="0"/>
          <a:chExt cx="0" cy="0"/>
        </a:xfrm>
      </p:grpSpPr>
      <p:sp>
        <p:nvSpPr>
          <p:cNvPr id="254" name="Google Shape;254;p4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388620" lvl="0" marL="457200" rtl="0" algn="l">
              <a:spcBef>
                <a:spcPts val="0"/>
              </a:spcBef>
              <a:spcAft>
                <a:spcPts val="0"/>
              </a:spcAft>
              <a:buSzPct val="100000"/>
              <a:buAutoNum type="romanUcPeriod"/>
            </a:pPr>
            <a:r>
              <a:rPr lang="fr"/>
              <a:t>Introduction au RGPD</a:t>
            </a:r>
            <a:endParaRPr/>
          </a:p>
        </p:txBody>
      </p:sp>
      <p:sp>
        <p:nvSpPr>
          <p:cNvPr id="255" name="Google Shape;255;p4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a:t>1.	Qu’est-ce qu’une donnée à caractère personnel ?</a:t>
            </a:r>
            <a:endParaRPr/>
          </a:p>
          <a:p>
            <a:pPr indent="0" lvl="0" marL="0" rtl="0" algn="l">
              <a:spcBef>
                <a:spcPts val="1200"/>
              </a:spcBef>
              <a:spcAft>
                <a:spcPts val="0"/>
              </a:spcAft>
              <a:buNone/>
            </a:pPr>
            <a:r>
              <a:rPr lang="fr"/>
              <a:t>2.	Pourquoi protéger les données ?</a:t>
            </a:r>
            <a:endParaRPr/>
          </a:p>
          <a:p>
            <a:pPr indent="0" lvl="0" marL="0" rtl="0" algn="l">
              <a:spcBef>
                <a:spcPts val="1200"/>
              </a:spcBef>
              <a:spcAft>
                <a:spcPts val="0"/>
              </a:spcAft>
              <a:buNone/>
            </a:pPr>
            <a:r>
              <a:rPr lang="fr"/>
              <a:t>3.	Historique de la protection des données personnelles</a:t>
            </a:r>
            <a:endParaRPr/>
          </a:p>
          <a:p>
            <a:pPr indent="0" lvl="0" marL="0" rtl="0" algn="l">
              <a:spcBef>
                <a:spcPts val="1200"/>
              </a:spcBef>
              <a:spcAft>
                <a:spcPts val="0"/>
              </a:spcAft>
              <a:buNone/>
            </a:pPr>
            <a:r>
              <a:rPr lang="fr"/>
              <a:t>4.	A qui s’applique le RGPD ?</a:t>
            </a:r>
            <a:endParaRPr/>
          </a:p>
          <a:p>
            <a:pPr indent="0" lvl="0" marL="0" rtl="0" algn="l">
              <a:spcBef>
                <a:spcPts val="1200"/>
              </a:spcBef>
              <a:spcAft>
                <a:spcPts val="0"/>
              </a:spcAft>
              <a:buNone/>
            </a:pPr>
            <a:r>
              <a:rPr lang="fr">
                <a:solidFill>
                  <a:srgbClr val="9900FF"/>
                </a:solidFill>
              </a:rPr>
              <a:t>5.	Enjeux et opportunités du RGPD</a:t>
            </a:r>
            <a:endParaRPr>
              <a:solidFill>
                <a:srgbClr val="9900FF"/>
              </a:solidFill>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4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Protéger les droits des personnes, mais pas que ! </a:t>
            </a:r>
            <a:endParaRPr/>
          </a:p>
        </p:txBody>
      </p:sp>
      <p:sp>
        <p:nvSpPr>
          <p:cNvPr id="261" name="Google Shape;261;p46"/>
          <p:cNvSpPr txBox="1"/>
          <p:nvPr>
            <p:ph idx="1" type="body"/>
          </p:nvPr>
        </p:nvSpPr>
        <p:spPr>
          <a:xfrm>
            <a:off x="311700" y="1152475"/>
            <a:ext cx="43731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fr"/>
              <a:t>A quoi sert le RGPD selon vous ?</a:t>
            </a:r>
            <a:endParaRPr/>
          </a:p>
        </p:txBody>
      </p:sp>
      <p:pic>
        <p:nvPicPr>
          <p:cNvPr id="262" name="Google Shape;262;p46"/>
          <p:cNvPicPr preferRelativeResize="0"/>
          <p:nvPr/>
        </p:nvPicPr>
        <p:blipFill>
          <a:blip r:embed="rId3">
            <a:alphaModFix/>
          </a:blip>
          <a:stretch>
            <a:fillRect/>
          </a:stretch>
        </p:blipFill>
        <p:spPr>
          <a:xfrm>
            <a:off x="5134725" y="1641475"/>
            <a:ext cx="2857500" cy="2438400"/>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6" name="Shape 266"/>
        <p:cNvGrpSpPr/>
        <p:nvPr/>
      </p:nvGrpSpPr>
      <p:grpSpPr>
        <a:xfrm>
          <a:off x="0" y="0"/>
          <a:ext cx="0" cy="0"/>
          <a:chOff x="0" y="0"/>
          <a:chExt cx="0" cy="0"/>
        </a:xfrm>
      </p:grpSpPr>
      <p:sp>
        <p:nvSpPr>
          <p:cNvPr id="267" name="Google Shape;267;p4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Les enjeux du RGPD</a:t>
            </a:r>
            <a:endParaRPr/>
          </a:p>
        </p:txBody>
      </p:sp>
      <p:sp>
        <p:nvSpPr>
          <p:cNvPr id="268" name="Google Shape;268;p4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Clr>
                <a:schemeClr val="dk1"/>
              </a:buClr>
              <a:buSzPct val="61111"/>
              <a:buFont typeface="Arial"/>
              <a:buNone/>
            </a:pPr>
            <a:r>
              <a:rPr lang="fr"/>
              <a:t>Les 3 axes majeurs du RGPD : </a:t>
            </a:r>
            <a:endParaRPr/>
          </a:p>
          <a:p>
            <a:pPr indent="-325755" lvl="0" marL="457200" rtl="0" algn="l">
              <a:spcBef>
                <a:spcPts val="1200"/>
              </a:spcBef>
              <a:spcAft>
                <a:spcPts val="0"/>
              </a:spcAft>
              <a:buSzPct val="100000"/>
              <a:buChar char="-"/>
            </a:pPr>
            <a:r>
              <a:rPr lang="fr"/>
              <a:t>Le renforcement quantitatif et qualitatif des droits des personnes</a:t>
            </a:r>
            <a:endParaRPr/>
          </a:p>
          <a:p>
            <a:pPr indent="-325755" lvl="0" marL="457200" rtl="0" algn="l">
              <a:spcBef>
                <a:spcPts val="0"/>
              </a:spcBef>
              <a:spcAft>
                <a:spcPts val="0"/>
              </a:spcAft>
              <a:buSzPct val="100000"/>
              <a:buChar char="-"/>
            </a:pPr>
            <a:r>
              <a:rPr lang="fr"/>
              <a:t>Une nouvelle logique de </a:t>
            </a:r>
            <a:r>
              <a:rPr b="1" lang="fr"/>
              <a:t>responsabilisation</a:t>
            </a:r>
            <a:r>
              <a:rPr lang="fr"/>
              <a:t> de l’ensemble des acteurs des traitements de données</a:t>
            </a:r>
            <a:endParaRPr/>
          </a:p>
          <a:p>
            <a:pPr indent="-325755" lvl="0" marL="457200" rtl="0" algn="l">
              <a:spcBef>
                <a:spcPts val="0"/>
              </a:spcBef>
              <a:spcAft>
                <a:spcPts val="0"/>
              </a:spcAft>
              <a:buSzPct val="100000"/>
              <a:buChar char="-"/>
            </a:pPr>
            <a:r>
              <a:rPr lang="fr"/>
              <a:t>Le renforcement des pouvoirs de sanction des CNIL européennes</a:t>
            </a:r>
            <a:endParaRPr/>
          </a:p>
          <a:p>
            <a:pPr indent="0" lvl="0" marL="0" rtl="0" algn="l">
              <a:spcBef>
                <a:spcPts val="1200"/>
              </a:spcBef>
              <a:spcAft>
                <a:spcPts val="0"/>
              </a:spcAft>
              <a:buNone/>
            </a:pPr>
            <a:r>
              <a:rPr lang="fr"/>
              <a:t>Les principaux objectifs du RGPD :</a:t>
            </a:r>
            <a:endParaRPr/>
          </a:p>
          <a:p>
            <a:pPr indent="-325755" lvl="0" marL="457200" rtl="0" algn="l">
              <a:spcBef>
                <a:spcPts val="1200"/>
              </a:spcBef>
              <a:spcAft>
                <a:spcPts val="0"/>
              </a:spcAft>
              <a:buSzPct val="100000"/>
              <a:buChar char="-"/>
            </a:pPr>
            <a:r>
              <a:rPr lang="fr"/>
              <a:t>Donner aux personnes la possibilité de mieux comprendre l’usage qui est fait de leurs données</a:t>
            </a:r>
            <a:endParaRPr/>
          </a:p>
          <a:p>
            <a:pPr indent="-325755" lvl="0" marL="457200" rtl="0" algn="l">
              <a:spcBef>
                <a:spcPts val="0"/>
              </a:spcBef>
              <a:spcAft>
                <a:spcPts val="0"/>
              </a:spcAft>
              <a:buSzPct val="100000"/>
              <a:buChar char="-"/>
            </a:pPr>
            <a:r>
              <a:rPr lang="fr"/>
              <a:t>Générer la confiance indispensable à la réussite des politiques publiques, au développement des transactions commerciales et aux innovations technologiques</a:t>
            </a:r>
            <a:endParaRPr/>
          </a:p>
          <a:p>
            <a:pPr indent="-325755" lvl="0" marL="457200" rtl="0" algn="l">
              <a:spcBef>
                <a:spcPts val="0"/>
              </a:spcBef>
              <a:spcAft>
                <a:spcPts val="0"/>
              </a:spcAft>
              <a:buSzPct val="100000"/>
              <a:buChar char="-"/>
            </a:pPr>
            <a:r>
              <a:rPr lang="fr"/>
              <a:t>Rééquilibrer la concurrence au regard du droit applicable dans l’UE pour des acteurs internationaux</a:t>
            </a:r>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2" name="Shape 272"/>
        <p:cNvGrpSpPr/>
        <p:nvPr/>
      </p:nvGrpSpPr>
      <p:grpSpPr>
        <a:xfrm>
          <a:off x="0" y="0"/>
          <a:ext cx="0" cy="0"/>
          <a:chOff x="0" y="0"/>
          <a:chExt cx="0" cy="0"/>
        </a:xfrm>
      </p:grpSpPr>
      <p:sp>
        <p:nvSpPr>
          <p:cNvPr id="273" name="Google Shape;273;p4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Le RGPD, une contrainte technique ou juridique ?</a:t>
            </a:r>
            <a:endParaRPr/>
          </a:p>
        </p:txBody>
      </p:sp>
      <p:sp>
        <p:nvSpPr>
          <p:cNvPr id="274" name="Google Shape;274;p4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a:t>Pour de nombreuses entreprises, le RGPD est une contrainte qui les empêcherait de travailler efficacement et qui engendrerait des frais.</a:t>
            </a:r>
            <a:endParaRPr/>
          </a:p>
          <a:p>
            <a:pPr indent="0" lvl="0" marL="0" rtl="0" algn="l">
              <a:spcBef>
                <a:spcPts val="1200"/>
              </a:spcBef>
              <a:spcAft>
                <a:spcPts val="0"/>
              </a:spcAft>
              <a:buNone/>
            </a:pPr>
            <a:r>
              <a:rPr lang="fr"/>
              <a:t>En réalité, le RGPD est une opportunité !</a:t>
            </a:r>
            <a:endParaRPr/>
          </a:p>
          <a:p>
            <a:pPr indent="0" lvl="0" marL="0" rtl="0" algn="l">
              <a:spcBef>
                <a:spcPts val="1200"/>
              </a:spcBef>
              <a:spcAft>
                <a:spcPts val="1200"/>
              </a:spcAft>
              <a:buNone/>
            </a:pPr>
            <a:r>
              <a:rPr b="1" lang="fr">
                <a:solidFill>
                  <a:srgbClr val="9900FF"/>
                </a:solidFill>
              </a:rPr>
              <a:t>Sur le Web, un site conforme est vecteur de confiance. </a:t>
            </a:r>
            <a:endParaRPr b="1">
              <a:solidFill>
                <a:srgbClr val="9900FF"/>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8" name="Shape 278"/>
        <p:cNvGrpSpPr/>
        <p:nvPr/>
      </p:nvGrpSpPr>
      <p:grpSpPr>
        <a:xfrm>
          <a:off x="0" y="0"/>
          <a:ext cx="0" cy="0"/>
          <a:chOff x="0" y="0"/>
          <a:chExt cx="0" cy="0"/>
        </a:xfrm>
      </p:grpSpPr>
      <p:sp>
        <p:nvSpPr>
          <p:cNvPr id="279" name="Google Shape;279;p49"/>
          <p:cNvSpPr txBox="1"/>
          <p:nvPr>
            <p:ph type="title"/>
          </p:nvPr>
        </p:nvSpPr>
        <p:spPr>
          <a:xfrm>
            <a:off x="311700" y="445025"/>
            <a:ext cx="8520600" cy="881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Les valeurs ajoutées de l’intégration du RGPD dans une entreprise ou une administration</a:t>
            </a:r>
            <a:endParaRPr/>
          </a:p>
        </p:txBody>
      </p:sp>
      <p:sp>
        <p:nvSpPr>
          <p:cNvPr id="280" name="Google Shape;280;p49"/>
          <p:cNvSpPr txBox="1"/>
          <p:nvPr>
            <p:ph idx="1" type="body"/>
          </p:nvPr>
        </p:nvSpPr>
        <p:spPr>
          <a:xfrm>
            <a:off x="311700" y="1462500"/>
            <a:ext cx="8520600" cy="31065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fr"/>
              <a:t>Meilleure gouvernance (gestion de </a:t>
            </a:r>
            <a:r>
              <a:rPr lang="fr"/>
              <a:t>l'organisation</a:t>
            </a:r>
            <a:r>
              <a:rPr lang="fr"/>
              <a:t>) et efficience des process</a:t>
            </a:r>
            <a:endParaRPr/>
          </a:p>
          <a:p>
            <a:pPr indent="-342900" lvl="0" marL="457200" rtl="0" algn="l">
              <a:spcBef>
                <a:spcPts val="0"/>
              </a:spcBef>
              <a:spcAft>
                <a:spcPts val="0"/>
              </a:spcAft>
              <a:buSzPts val="1800"/>
              <a:buChar char="-"/>
            </a:pPr>
            <a:r>
              <a:rPr lang="fr"/>
              <a:t>Valorisation des données pour plus d’efficacité</a:t>
            </a:r>
            <a:endParaRPr/>
          </a:p>
          <a:p>
            <a:pPr indent="-342900" lvl="0" marL="457200" rtl="0" algn="l">
              <a:spcBef>
                <a:spcPts val="0"/>
              </a:spcBef>
              <a:spcAft>
                <a:spcPts val="0"/>
              </a:spcAft>
              <a:buSzPts val="1800"/>
              <a:buChar char="-"/>
            </a:pPr>
            <a:r>
              <a:rPr lang="fr"/>
              <a:t>Gage de confiance : remet le client ou l’usager au centre</a:t>
            </a:r>
            <a:endParaRPr/>
          </a:p>
          <a:p>
            <a:pPr indent="-342900" lvl="0" marL="457200" rtl="0" algn="l">
              <a:spcBef>
                <a:spcPts val="0"/>
              </a:spcBef>
              <a:spcAft>
                <a:spcPts val="0"/>
              </a:spcAft>
              <a:buSzPts val="1800"/>
              <a:buChar char="-"/>
            </a:pPr>
            <a:r>
              <a:rPr lang="fr"/>
              <a:t>Levier de compétitivité : avantage commercial par rapport à la concurrence</a:t>
            </a:r>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5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286" name="Google Shape;286;p50"/>
          <p:cNvSpPr txBox="1"/>
          <p:nvPr>
            <p:ph idx="1" type="body"/>
          </p:nvPr>
        </p:nvSpPr>
        <p:spPr>
          <a:xfrm>
            <a:off x="311700" y="2007750"/>
            <a:ext cx="8520600" cy="1128000"/>
          </a:xfrm>
          <a:prstGeom prst="rect">
            <a:avLst/>
          </a:prstGeom>
        </p:spPr>
        <p:txBody>
          <a:bodyPr anchorCtr="0" anchor="t" bIns="91425" lIns="91425" spcFirstLastPara="1" rIns="91425" wrap="square" tIns="91425">
            <a:normAutofit/>
          </a:bodyPr>
          <a:lstStyle/>
          <a:p>
            <a:pPr indent="0" lvl="0" marL="0" rtl="0" algn="ctr">
              <a:spcBef>
                <a:spcPts val="0"/>
              </a:spcBef>
              <a:spcAft>
                <a:spcPts val="1200"/>
              </a:spcAft>
              <a:buNone/>
            </a:pPr>
            <a:r>
              <a:rPr lang="fr" sz="5900"/>
              <a:t>QUIZ !!</a:t>
            </a:r>
            <a:endParaRPr sz="5900"/>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5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Question 1</a:t>
            </a:r>
            <a:endParaRPr/>
          </a:p>
        </p:txBody>
      </p:sp>
      <p:sp>
        <p:nvSpPr>
          <p:cNvPr id="292" name="Google Shape;292;p5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a:t>Une adresse mail professionnelle telle que </a:t>
            </a:r>
            <a:r>
              <a:rPr lang="fr" u="sng">
                <a:solidFill>
                  <a:schemeClr val="hlink"/>
                </a:solidFill>
                <a:hlinkClick r:id="rId3"/>
              </a:rPr>
              <a:t>jean.dupont@entreprise.fr</a:t>
            </a:r>
            <a:r>
              <a:rPr lang="fr"/>
              <a:t> n’est pas considérée comme une donnée personnelle.</a:t>
            </a:r>
            <a:endParaRPr/>
          </a:p>
          <a:p>
            <a:pPr indent="0" lvl="0" marL="0" rtl="0" algn="l">
              <a:spcBef>
                <a:spcPts val="1200"/>
              </a:spcBef>
              <a:spcAft>
                <a:spcPts val="1200"/>
              </a:spcAft>
              <a:buNone/>
            </a:pPr>
            <a:r>
              <a:rPr lang="fr"/>
              <a:t>Vrai ou faux ?</a:t>
            </a:r>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6" name="Shape 296"/>
        <p:cNvGrpSpPr/>
        <p:nvPr/>
      </p:nvGrpSpPr>
      <p:grpSpPr>
        <a:xfrm>
          <a:off x="0" y="0"/>
          <a:ext cx="0" cy="0"/>
          <a:chOff x="0" y="0"/>
          <a:chExt cx="0" cy="0"/>
        </a:xfrm>
      </p:grpSpPr>
      <p:sp>
        <p:nvSpPr>
          <p:cNvPr id="297" name="Google Shape;297;p5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Question 1</a:t>
            </a:r>
            <a:endParaRPr/>
          </a:p>
        </p:txBody>
      </p:sp>
      <p:sp>
        <p:nvSpPr>
          <p:cNvPr id="298" name="Google Shape;298;p5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a:t>Réponse : Faux</a:t>
            </a:r>
            <a:endParaRPr/>
          </a:p>
          <a:p>
            <a:pPr indent="0" lvl="0" marL="0" rtl="0" algn="l">
              <a:spcBef>
                <a:spcPts val="1200"/>
              </a:spcBef>
              <a:spcAft>
                <a:spcPts val="0"/>
              </a:spcAft>
              <a:buNone/>
            </a:pPr>
            <a:r>
              <a:rPr lang="fr"/>
              <a:t>Une donnée personnelle est toute information relative à une personne physique susceptible d'être identifiée, directement ou indirectement.</a:t>
            </a:r>
            <a:endParaRPr/>
          </a:p>
          <a:p>
            <a:pPr indent="0" lvl="0" marL="0" rtl="0" algn="l">
              <a:spcBef>
                <a:spcPts val="1200"/>
              </a:spcBef>
              <a:spcAft>
                <a:spcPts val="0"/>
              </a:spcAft>
              <a:buClr>
                <a:schemeClr val="dk1"/>
              </a:buClr>
              <a:buSzPts val="1100"/>
              <a:buFont typeface="Arial"/>
              <a:buNone/>
            </a:pPr>
            <a:r>
              <a:rPr lang="fr"/>
              <a:t>Même s’il s’agit d’une adresse mail professionnelle, la personne est ici susceptible d’être </a:t>
            </a:r>
            <a:r>
              <a:rPr lang="fr"/>
              <a:t>identifiée par son nom et son prénom, ainsi que par l’entreprise dans laquelle elle travaille</a:t>
            </a:r>
            <a:r>
              <a:rPr lang="fr"/>
              <a:t>.</a:t>
            </a:r>
            <a:endParaRPr/>
          </a:p>
          <a:p>
            <a:pPr indent="0" lvl="0" marL="0" rtl="0" algn="l">
              <a:spcBef>
                <a:spcPts val="1200"/>
              </a:spcBef>
              <a:spcAft>
                <a:spcPts val="0"/>
              </a:spcAft>
              <a:buClr>
                <a:schemeClr val="dk1"/>
              </a:buClr>
              <a:buSzPts val="1100"/>
              <a:buFont typeface="Arial"/>
              <a:buNone/>
            </a:pPr>
            <a:r>
              <a:t/>
            </a:r>
            <a:endParaRPr/>
          </a:p>
          <a:p>
            <a:pPr indent="0" lvl="0" marL="0" rtl="0" algn="l">
              <a:spcBef>
                <a:spcPts val="1200"/>
              </a:spcBef>
              <a:spcAft>
                <a:spcPts val="1200"/>
              </a:spcAft>
              <a:buNone/>
            </a:pPr>
            <a:r>
              <a:t/>
            </a:r>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2" name="Shape 302"/>
        <p:cNvGrpSpPr/>
        <p:nvPr/>
      </p:nvGrpSpPr>
      <p:grpSpPr>
        <a:xfrm>
          <a:off x="0" y="0"/>
          <a:ext cx="0" cy="0"/>
          <a:chOff x="0" y="0"/>
          <a:chExt cx="0" cy="0"/>
        </a:xfrm>
      </p:grpSpPr>
      <p:sp>
        <p:nvSpPr>
          <p:cNvPr id="303" name="Google Shape;303;p5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Question 2</a:t>
            </a:r>
            <a:endParaRPr/>
          </a:p>
        </p:txBody>
      </p:sp>
      <p:sp>
        <p:nvSpPr>
          <p:cNvPr id="304" name="Google Shape;304;p5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a:t>La simple consultation d’une donnée n’est pas considéré comme un traitement.</a:t>
            </a:r>
            <a:endParaRPr/>
          </a:p>
          <a:p>
            <a:pPr indent="0" lvl="0" marL="0" rtl="0" algn="l">
              <a:spcBef>
                <a:spcPts val="1200"/>
              </a:spcBef>
              <a:spcAft>
                <a:spcPts val="1200"/>
              </a:spcAft>
              <a:buNone/>
            </a:pPr>
            <a:r>
              <a:rPr lang="fr"/>
              <a:t>Vrai ou faux ?</a:t>
            </a:r>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8" name="Shape 308"/>
        <p:cNvGrpSpPr/>
        <p:nvPr/>
      </p:nvGrpSpPr>
      <p:grpSpPr>
        <a:xfrm>
          <a:off x="0" y="0"/>
          <a:ext cx="0" cy="0"/>
          <a:chOff x="0" y="0"/>
          <a:chExt cx="0" cy="0"/>
        </a:xfrm>
      </p:grpSpPr>
      <p:sp>
        <p:nvSpPr>
          <p:cNvPr id="309" name="Google Shape;309;p5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Question 2</a:t>
            </a:r>
            <a:endParaRPr/>
          </a:p>
        </p:txBody>
      </p:sp>
      <p:sp>
        <p:nvSpPr>
          <p:cNvPr id="310" name="Google Shape;310;p5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fr"/>
              <a:t>Réponse : Faux</a:t>
            </a:r>
            <a:endParaRPr/>
          </a:p>
          <a:p>
            <a:pPr indent="0" lvl="0" marL="0" rtl="0" algn="l">
              <a:spcBef>
                <a:spcPts val="1200"/>
              </a:spcBef>
              <a:spcAft>
                <a:spcPts val="0"/>
              </a:spcAft>
              <a:buClr>
                <a:schemeClr val="dk1"/>
              </a:buClr>
              <a:buSzPts val="1100"/>
              <a:buFont typeface="Arial"/>
              <a:buNone/>
            </a:pPr>
            <a:r>
              <a:rPr lang="fr"/>
              <a:t>Un traitement désigne toute</a:t>
            </a:r>
            <a:r>
              <a:rPr lang="fr"/>
              <a:t> opération portant sur des données personnelles, quel que soit le procédé utilisé. Par exemple, enregistrer, organiser, conserver, modifier, rapprocher avec d'autres données, transmettre, etc. des données personnelles.</a:t>
            </a:r>
            <a:endParaRPr/>
          </a:p>
          <a:p>
            <a:pPr indent="0" lvl="0" marL="0" rtl="0" algn="l">
              <a:spcBef>
                <a:spcPts val="1200"/>
              </a:spcBef>
              <a:spcAft>
                <a:spcPts val="0"/>
              </a:spcAft>
              <a:buClr>
                <a:schemeClr val="dk1"/>
              </a:buClr>
              <a:buSzPts val="1100"/>
              <a:buFont typeface="Arial"/>
              <a:buNone/>
            </a:pPr>
            <a:r>
              <a:rPr lang="fr"/>
              <a:t>La simple consultation des données constitue aussi un traitement.</a:t>
            </a:r>
            <a:endParaRPr/>
          </a:p>
          <a:p>
            <a:pPr indent="0" lvl="0" marL="0" rtl="0" algn="l">
              <a:spcBef>
                <a:spcPts val="1200"/>
              </a:spcBef>
              <a:spcAft>
                <a:spcPts val="0"/>
              </a:spcAft>
              <a:buClr>
                <a:schemeClr val="dk1"/>
              </a:buClr>
              <a:buSzPts val="1100"/>
              <a:buFont typeface="Arial"/>
              <a:buNone/>
            </a:pPr>
            <a:r>
              <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4" name="Shape 314"/>
        <p:cNvGrpSpPr/>
        <p:nvPr/>
      </p:nvGrpSpPr>
      <p:grpSpPr>
        <a:xfrm>
          <a:off x="0" y="0"/>
          <a:ext cx="0" cy="0"/>
          <a:chOff x="0" y="0"/>
          <a:chExt cx="0" cy="0"/>
        </a:xfrm>
      </p:grpSpPr>
      <p:sp>
        <p:nvSpPr>
          <p:cNvPr id="315" name="Google Shape;315;p5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Question 3</a:t>
            </a:r>
            <a:endParaRPr/>
          </a:p>
        </p:txBody>
      </p:sp>
      <p:sp>
        <p:nvSpPr>
          <p:cNvPr id="316" name="Google Shape;316;p5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a:t>Le RGPD s’applique aux organismes établis dans l’UE ou dont l’activité cible des personnes qui se trouvent dans l’UE ainsi qu’à leurs éventuels sous-traitants.</a:t>
            </a:r>
            <a:endParaRPr/>
          </a:p>
          <a:p>
            <a:pPr indent="0" lvl="0" marL="0" rtl="0" algn="l">
              <a:spcBef>
                <a:spcPts val="1200"/>
              </a:spcBef>
              <a:spcAft>
                <a:spcPts val="0"/>
              </a:spcAft>
              <a:buNone/>
            </a:pPr>
            <a:r>
              <a:rPr lang="fr"/>
              <a:t>Vrai ou faux ?</a:t>
            </a:r>
            <a:endParaRPr/>
          </a:p>
          <a:p>
            <a:pPr indent="0" lvl="0" marL="0" rtl="0" algn="l">
              <a:spcBef>
                <a:spcPts val="1200"/>
              </a:spcBef>
              <a:spcAft>
                <a:spcPts val="0"/>
              </a:spcAft>
              <a:buClr>
                <a:schemeClr val="dk1"/>
              </a:buClr>
              <a:buSzPts val="1100"/>
              <a:buFont typeface="Arial"/>
              <a:buNone/>
            </a:pPr>
            <a:r>
              <a:t/>
            </a:r>
            <a:endParaRPr/>
          </a:p>
          <a:p>
            <a:pPr indent="0" lvl="0" marL="0" rtl="0" algn="l">
              <a:spcBef>
                <a:spcPts val="1200"/>
              </a:spcBef>
              <a:spcAft>
                <a:spcPts val="1200"/>
              </a:spcAft>
              <a:buNone/>
            </a:pPr>
            <a:r>
              <a:t/>
            </a:r>
            <a:endParaRPr/>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5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fr"/>
              <a:t>Question 3</a:t>
            </a:r>
            <a:endParaRPr/>
          </a:p>
        </p:txBody>
      </p:sp>
      <p:sp>
        <p:nvSpPr>
          <p:cNvPr id="322" name="Google Shape;322;p5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a:t>Réponse : Vrai</a:t>
            </a:r>
            <a:endParaRPr/>
          </a:p>
          <a:p>
            <a:pPr indent="0" lvl="0" marL="0" rtl="0" algn="l">
              <a:spcBef>
                <a:spcPts val="1200"/>
              </a:spcBef>
              <a:spcAft>
                <a:spcPts val="0"/>
              </a:spcAft>
              <a:buNone/>
            </a:pPr>
            <a:r>
              <a:rPr lang="fr"/>
              <a:t>Le RGPD s’applique :</a:t>
            </a:r>
            <a:endParaRPr/>
          </a:p>
          <a:p>
            <a:pPr indent="-342900" lvl="0" marL="457200" rtl="0" algn="l">
              <a:spcBef>
                <a:spcPts val="1200"/>
              </a:spcBef>
              <a:spcAft>
                <a:spcPts val="0"/>
              </a:spcAft>
              <a:buSzPts val="1800"/>
              <a:buChar char="-"/>
            </a:pPr>
            <a:r>
              <a:rPr lang="fr"/>
              <a:t>Aux </a:t>
            </a:r>
            <a:r>
              <a:rPr lang="fr"/>
              <a:t>organismes établis sur le territoire de l’UE, que le traitement ait lieu ou non dans l’UE (critère d’établissement)</a:t>
            </a:r>
            <a:endParaRPr/>
          </a:p>
          <a:p>
            <a:pPr indent="-342900" lvl="0" marL="457200" rtl="0" algn="l">
              <a:spcBef>
                <a:spcPts val="0"/>
              </a:spcBef>
              <a:spcAft>
                <a:spcPts val="0"/>
              </a:spcAft>
              <a:buSzPts val="1800"/>
              <a:buChar char="-"/>
            </a:pPr>
            <a:r>
              <a:rPr lang="fr"/>
              <a:t>Aux organismes dont l’activité cible des personnes qui se trouvent dans l’UE (critère de ciblage)</a:t>
            </a:r>
            <a:endParaRPr/>
          </a:p>
          <a:p>
            <a:pPr indent="-342900" lvl="0" marL="457200" rtl="0" algn="l">
              <a:spcBef>
                <a:spcPts val="0"/>
              </a:spcBef>
              <a:spcAft>
                <a:spcPts val="0"/>
              </a:spcAft>
              <a:buSzPts val="1800"/>
              <a:buChar char="-"/>
            </a:pPr>
            <a:r>
              <a:rPr lang="fr"/>
              <a:t>A leurs éventuels sous-traitants</a:t>
            </a:r>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sp>
        <p:nvSpPr>
          <p:cNvPr id="327" name="Google Shape;327;p5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328" name="Google Shape;328;p5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329" name="Google Shape;329;p57"/>
          <p:cNvPicPr preferRelativeResize="0"/>
          <p:nvPr/>
        </p:nvPicPr>
        <p:blipFill>
          <a:blip r:embed="rId3">
            <a:alphaModFix/>
          </a:blip>
          <a:stretch>
            <a:fillRect/>
          </a:stretch>
        </p:blipFill>
        <p:spPr>
          <a:xfrm>
            <a:off x="2171700" y="595313"/>
            <a:ext cx="4800600" cy="3952875"/>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3" name="Shape 333"/>
        <p:cNvGrpSpPr/>
        <p:nvPr/>
      </p:nvGrpSpPr>
      <p:grpSpPr>
        <a:xfrm>
          <a:off x="0" y="0"/>
          <a:ext cx="0" cy="0"/>
          <a:chOff x="0" y="0"/>
          <a:chExt cx="0" cy="0"/>
        </a:xfrm>
      </p:grpSpPr>
      <p:sp>
        <p:nvSpPr>
          <p:cNvPr id="334" name="Google Shape;334;p5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335" name="Google Shape;335;p58"/>
          <p:cNvSpPr txBox="1"/>
          <p:nvPr>
            <p:ph idx="1" type="body"/>
          </p:nvPr>
        </p:nvSpPr>
        <p:spPr>
          <a:xfrm>
            <a:off x="3681000" y="1152475"/>
            <a:ext cx="51513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fr"/>
              <a:t>Recommanderiez-vous ce cours à un-e ami-e ?</a:t>
            </a:r>
            <a:endParaRPr/>
          </a:p>
          <a:p>
            <a:pPr indent="0" lvl="0" marL="0" rtl="0" algn="l">
              <a:spcBef>
                <a:spcPts val="1200"/>
              </a:spcBef>
              <a:spcAft>
                <a:spcPts val="0"/>
              </a:spcAft>
              <a:buNone/>
            </a:pPr>
            <a:r>
              <a:rPr lang="fr" u="sng">
                <a:solidFill>
                  <a:schemeClr val="hlink"/>
                </a:solidFill>
                <a:hlinkClick r:id="rId3"/>
              </a:rPr>
              <a:t>https://lstu.fr/cours-rgpd-22112021</a:t>
            </a:r>
            <a:r>
              <a:rPr lang="fr"/>
              <a:t> </a:t>
            </a:r>
            <a:endParaRPr/>
          </a:p>
          <a:p>
            <a:pPr indent="0" lvl="0" marL="0" rtl="0" algn="l">
              <a:spcBef>
                <a:spcPts val="1200"/>
              </a:spcBef>
              <a:spcAft>
                <a:spcPts val="0"/>
              </a:spcAft>
              <a:buNone/>
            </a:pPr>
            <a:r>
              <a:t/>
            </a:r>
            <a:endParaRPr/>
          </a:p>
          <a:p>
            <a:pPr indent="0" lvl="0" marL="0" rtl="0" algn="l">
              <a:spcBef>
                <a:spcPts val="1200"/>
              </a:spcBef>
              <a:spcAft>
                <a:spcPts val="0"/>
              </a:spcAft>
              <a:buNone/>
            </a:pPr>
            <a:r>
              <a:t/>
            </a:r>
            <a:endParaRPr b="1"/>
          </a:p>
          <a:p>
            <a:pPr indent="0" lvl="0" marL="0" rtl="0" algn="l">
              <a:spcBef>
                <a:spcPts val="1200"/>
              </a:spcBef>
              <a:spcAft>
                <a:spcPts val="0"/>
              </a:spcAft>
              <a:buNone/>
            </a:pPr>
            <a:r>
              <a:t/>
            </a:r>
            <a:endParaRPr/>
          </a:p>
          <a:p>
            <a:pPr indent="0" lvl="0" marL="0" rtl="0" algn="l">
              <a:spcBef>
                <a:spcPts val="1200"/>
              </a:spcBef>
              <a:spcAft>
                <a:spcPts val="0"/>
              </a:spcAft>
              <a:buNone/>
            </a:pPr>
            <a:r>
              <a:t/>
            </a:r>
            <a:endParaRPr/>
          </a:p>
          <a:p>
            <a:pPr indent="0" lvl="0" marL="0" rtl="0" algn="l">
              <a:spcBef>
                <a:spcPts val="1200"/>
              </a:spcBef>
              <a:spcAft>
                <a:spcPts val="1200"/>
              </a:spcAft>
              <a:buNone/>
            </a:pPr>
            <a:r>
              <a:rPr lang="fr"/>
              <a:t>Merci pour votre aide !</a:t>
            </a:r>
            <a:endParaRPr/>
          </a:p>
        </p:txBody>
      </p:sp>
      <p:pic>
        <p:nvPicPr>
          <p:cNvPr id="336" name="Google Shape;336;p58"/>
          <p:cNvPicPr preferRelativeResize="0"/>
          <p:nvPr/>
        </p:nvPicPr>
        <p:blipFill>
          <a:blip r:embed="rId4">
            <a:alphaModFix/>
          </a:blip>
          <a:stretch>
            <a:fillRect/>
          </a:stretch>
        </p:blipFill>
        <p:spPr>
          <a:xfrm>
            <a:off x="393535" y="508150"/>
            <a:ext cx="3126676" cy="3990849"/>
          </a:xfrm>
          <a:prstGeom prst="rect">
            <a:avLst/>
          </a:prstGeom>
          <a:noFill/>
          <a:ln>
            <a:noFill/>
          </a:ln>
        </p:spPr>
      </p:pic>
      <p:pic>
        <p:nvPicPr>
          <p:cNvPr id="337" name="Google Shape;337;p58"/>
          <p:cNvPicPr preferRelativeResize="0"/>
          <p:nvPr/>
        </p:nvPicPr>
        <p:blipFill>
          <a:blip r:embed="rId5">
            <a:alphaModFix/>
          </a:blip>
          <a:stretch>
            <a:fillRect/>
          </a:stretch>
        </p:blipFill>
        <p:spPr>
          <a:xfrm>
            <a:off x="3783107" y="2229057"/>
            <a:ext cx="1645450" cy="164545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