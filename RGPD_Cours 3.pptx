
<file path=[Content_Types].xml><?xml version="1.0" encoding="utf-8"?>
<Types xmlns="http://schemas.openxmlformats.org/package/2006/content-types">
  <Default ContentType="application/xml" Extension="xml"/>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104acf65619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104acf65619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104acf65619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104acf65619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104acf65619_0_14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104acf65619_0_14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104acf65619_0_8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104acf65619_0_8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104acf65619_0_13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104acf65619_0_13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104acf65619_0_14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104acf65619_0_14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104acf65619_0_14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104acf65619_0_14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104acf6561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104acf6561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fr"/>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s://github.com/LINCnil/Guide-RGPD-du-developpeur"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hyperlink" Target="https://www.cnil.fr/fr/documenter-la-conformite"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fr"/>
              <a:t>Gérer un projet Web en conformité avec le RGPD</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fr"/>
              <a:t>Pauline Gilg</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Le programme du cours</a:t>
            </a:r>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Clr>
                <a:schemeClr val="dk1"/>
              </a:buClr>
              <a:buSzPts val="1100"/>
              <a:buFont typeface="Arial"/>
              <a:buNone/>
            </a:pPr>
            <a:r>
              <a:rPr b="1" lang="fr"/>
              <a:t>Cours 1 - lundi 22 novembre (2h)</a:t>
            </a:r>
            <a:endParaRPr b="1"/>
          </a:p>
          <a:p>
            <a:pPr indent="0" lvl="0" marL="0" rtl="0" algn="l">
              <a:spcBef>
                <a:spcPts val="1200"/>
              </a:spcBef>
              <a:spcAft>
                <a:spcPts val="0"/>
              </a:spcAft>
              <a:buNone/>
            </a:pPr>
            <a:r>
              <a:rPr lang="fr"/>
              <a:t>Introduction au RGPD (théorie)</a:t>
            </a:r>
            <a:endParaRPr/>
          </a:p>
          <a:p>
            <a:pPr indent="0" lvl="0" marL="0" rtl="0" algn="l">
              <a:spcBef>
                <a:spcPts val="1200"/>
              </a:spcBef>
              <a:spcAft>
                <a:spcPts val="0"/>
              </a:spcAft>
              <a:buClr>
                <a:schemeClr val="dk1"/>
              </a:buClr>
              <a:buSzPts val="1100"/>
              <a:buFont typeface="Arial"/>
              <a:buNone/>
            </a:pPr>
            <a:r>
              <a:rPr b="1" lang="fr"/>
              <a:t>Cours 2 - mardi 23 novembre (1h)</a:t>
            </a:r>
            <a:endParaRPr b="1"/>
          </a:p>
          <a:p>
            <a:pPr indent="0" lvl="0" marL="0" rtl="0" algn="l">
              <a:spcBef>
                <a:spcPts val="1200"/>
              </a:spcBef>
              <a:spcAft>
                <a:spcPts val="0"/>
              </a:spcAft>
              <a:buClr>
                <a:schemeClr val="dk1"/>
              </a:buClr>
              <a:buSzPts val="1100"/>
              <a:buFont typeface="Arial"/>
              <a:buNone/>
            </a:pPr>
            <a:r>
              <a:rPr lang="fr"/>
              <a:t>Grands principes de la protection des données (théorie)</a:t>
            </a:r>
            <a:endParaRPr/>
          </a:p>
          <a:p>
            <a:pPr indent="0" lvl="0" marL="0" rtl="0" algn="l">
              <a:spcBef>
                <a:spcPts val="1200"/>
              </a:spcBef>
              <a:spcAft>
                <a:spcPts val="0"/>
              </a:spcAft>
              <a:buClr>
                <a:schemeClr val="dk1"/>
              </a:buClr>
              <a:buSzPts val="1100"/>
              <a:buFont typeface="Arial"/>
              <a:buNone/>
            </a:pPr>
            <a:r>
              <a:rPr b="1" lang="fr">
                <a:solidFill>
                  <a:srgbClr val="9900FF"/>
                </a:solidFill>
              </a:rPr>
              <a:t>Cours 3 - lundi 29 novembre (1h)</a:t>
            </a:r>
            <a:endParaRPr b="1">
              <a:solidFill>
                <a:srgbClr val="9900FF"/>
              </a:solidFill>
            </a:endParaRPr>
          </a:p>
          <a:p>
            <a:pPr indent="0" lvl="0" marL="0" rtl="0" algn="l">
              <a:spcBef>
                <a:spcPts val="1200"/>
              </a:spcBef>
              <a:spcAft>
                <a:spcPts val="0"/>
              </a:spcAft>
              <a:buClr>
                <a:schemeClr val="dk1"/>
              </a:buClr>
              <a:buSzPts val="1100"/>
              <a:buFont typeface="Arial"/>
              <a:buNone/>
            </a:pPr>
            <a:r>
              <a:rPr lang="fr">
                <a:solidFill>
                  <a:srgbClr val="9900FF"/>
                </a:solidFill>
              </a:rPr>
              <a:t>Gérer un projet Web en conformité avec le RGPD (pratique)</a:t>
            </a:r>
            <a:endParaRPr>
              <a:solidFill>
                <a:srgbClr val="9900FF"/>
              </a:solidFill>
            </a:endParaRPr>
          </a:p>
          <a:p>
            <a:pPr indent="0" lvl="0" marL="0" rtl="0" algn="l">
              <a:spcBef>
                <a:spcPts val="1200"/>
              </a:spcBef>
              <a:spcAft>
                <a:spcPts val="0"/>
              </a:spcAft>
              <a:buClr>
                <a:schemeClr val="dk1"/>
              </a:buClr>
              <a:buSzPts val="1100"/>
              <a:buFont typeface="Arial"/>
              <a:buNone/>
            </a:pPr>
            <a:r>
              <a:rPr b="1" lang="fr"/>
              <a:t>Cours 4 - mardi 30 novembre (2h)</a:t>
            </a:r>
            <a:endParaRPr b="1"/>
          </a:p>
          <a:p>
            <a:pPr indent="0" lvl="0" marL="0" rtl="0" algn="l">
              <a:spcBef>
                <a:spcPts val="1200"/>
              </a:spcBef>
              <a:spcAft>
                <a:spcPts val="1200"/>
              </a:spcAft>
              <a:buNone/>
            </a:pPr>
            <a:r>
              <a:rPr lang="fr"/>
              <a:t>Gérer un projet Web en conformité avec le RGPD (pratique)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fr">
                <a:solidFill>
                  <a:srgbClr val="9900FF"/>
                </a:solidFill>
              </a:rPr>
              <a:t>Cours 3 - lundi 29 novembre (1h)</a:t>
            </a:r>
            <a:endParaRPr>
              <a:solidFill>
                <a:srgbClr val="9900FF"/>
              </a:solidFill>
            </a:endParaRPr>
          </a:p>
          <a:p>
            <a:pPr indent="0" lvl="0" marL="0" rtl="0" algn="l">
              <a:spcBef>
                <a:spcPts val="0"/>
              </a:spcBef>
              <a:spcAft>
                <a:spcPts val="0"/>
              </a:spcAft>
              <a:buNone/>
            </a:pPr>
            <a:r>
              <a:t/>
            </a:r>
            <a:endParaRPr/>
          </a:p>
        </p:txBody>
      </p:sp>
      <p:sp>
        <p:nvSpPr>
          <p:cNvPr id="67" name="Google Shape;67;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fr">
                <a:solidFill>
                  <a:srgbClr val="9900FF"/>
                </a:solidFill>
              </a:rPr>
              <a:t>Gérer un projet Web en conformité avec le RGPD</a:t>
            </a:r>
            <a:endParaRPr b="1">
              <a:solidFill>
                <a:srgbClr val="9900FF"/>
              </a:solidFill>
            </a:endParaRPr>
          </a:p>
          <a:p>
            <a:pPr indent="-342900" lvl="0" marL="457200" rtl="0" algn="l">
              <a:spcBef>
                <a:spcPts val="1200"/>
              </a:spcBef>
              <a:spcAft>
                <a:spcPts val="0"/>
              </a:spcAft>
              <a:buClr>
                <a:srgbClr val="9900FF"/>
              </a:buClr>
              <a:buSzPts val="1800"/>
              <a:buAutoNum type="arabicPeriod"/>
            </a:pPr>
            <a:r>
              <a:rPr lang="fr">
                <a:solidFill>
                  <a:srgbClr val="9900FF"/>
                </a:solidFill>
              </a:rPr>
              <a:t>Préparer son projet</a:t>
            </a:r>
            <a:endParaRPr>
              <a:solidFill>
                <a:srgbClr val="9900FF"/>
              </a:solidFill>
            </a:endParaRPr>
          </a:p>
          <a:p>
            <a:pPr indent="-317500" lvl="1" marL="914400" rtl="0" algn="l">
              <a:spcBef>
                <a:spcPts val="0"/>
              </a:spcBef>
              <a:spcAft>
                <a:spcPts val="0"/>
              </a:spcAft>
              <a:buClr>
                <a:srgbClr val="9900FF"/>
              </a:buClr>
              <a:buSzPts val="1400"/>
              <a:buAutoNum type="alphaLcPeriod"/>
            </a:pPr>
            <a:r>
              <a:rPr lang="fr">
                <a:solidFill>
                  <a:srgbClr val="9900FF"/>
                </a:solidFill>
              </a:rPr>
              <a:t>Sécuriser </a:t>
            </a:r>
            <a:r>
              <a:rPr lang="fr">
                <a:solidFill>
                  <a:srgbClr val="9900FF"/>
                </a:solidFill>
              </a:rPr>
              <a:t>son environnement de travail</a:t>
            </a:r>
            <a:endParaRPr>
              <a:solidFill>
                <a:srgbClr val="9900FF"/>
              </a:solidFill>
            </a:endParaRPr>
          </a:p>
          <a:p>
            <a:pPr indent="-317500" lvl="1" marL="914400" rtl="0" algn="l">
              <a:spcBef>
                <a:spcPts val="0"/>
              </a:spcBef>
              <a:spcAft>
                <a:spcPts val="0"/>
              </a:spcAft>
              <a:buClr>
                <a:srgbClr val="9900FF"/>
              </a:buClr>
              <a:buSzPts val="1400"/>
              <a:buAutoNum type="alphaLcPeriod"/>
            </a:pPr>
            <a:r>
              <a:rPr lang="fr">
                <a:solidFill>
                  <a:srgbClr val="9900FF"/>
                </a:solidFill>
              </a:rPr>
              <a:t>Identifier / désigner un référent RGPD</a:t>
            </a:r>
            <a:endParaRPr>
              <a:solidFill>
                <a:srgbClr val="9900FF"/>
              </a:solidFill>
            </a:endParaRPr>
          </a:p>
          <a:p>
            <a:pPr indent="-317500" lvl="1" marL="914400" rtl="0" algn="l">
              <a:spcBef>
                <a:spcPts val="0"/>
              </a:spcBef>
              <a:spcAft>
                <a:spcPts val="0"/>
              </a:spcAft>
              <a:buClr>
                <a:srgbClr val="9900FF"/>
              </a:buClr>
              <a:buSzPts val="1400"/>
              <a:buAutoNum type="alphaLcPeriod"/>
            </a:pPr>
            <a:r>
              <a:rPr lang="fr">
                <a:solidFill>
                  <a:srgbClr val="9900FF"/>
                </a:solidFill>
              </a:rPr>
              <a:t>Adopter une approche “Privacy by design”</a:t>
            </a:r>
            <a:endParaRPr>
              <a:solidFill>
                <a:srgbClr val="9900FF"/>
              </a:solidFill>
            </a:endParaRPr>
          </a:p>
          <a:p>
            <a:pPr indent="-317500" lvl="1" marL="914400" rtl="0" algn="l">
              <a:spcBef>
                <a:spcPts val="0"/>
              </a:spcBef>
              <a:spcAft>
                <a:spcPts val="0"/>
              </a:spcAft>
              <a:buClr>
                <a:srgbClr val="9900FF"/>
              </a:buClr>
              <a:buSzPts val="1400"/>
              <a:buAutoNum type="alphaLcPeriod"/>
            </a:pPr>
            <a:r>
              <a:rPr lang="fr">
                <a:solidFill>
                  <a:srgbClr val="9900FF"/>
                </a:solidFill>
              </a:rPr>
              <a:t>Documenter la conformité</a:t>
            </a:r>
            <a:endParaRPr>
              <a:solidFill>
                <a:srgbClr val="9900FF"/>
              </a:solidFill>
            </a:endParaRPr>
          </a:p>
          <a:p>
            <a:pPr indent="-342900" lvl="0" marL="457200" rtl="0" algn="l">
              <a:spcBef>
                <a:spcPts val="0"/>
              </a:spcBef>
              <a:spcAft>
                <a:spcPts val="0"/>
              </a:spcAft>
              <a:buClr>
                <a:srgbClr val="9900FF"/>
              </a:buClr>
              <a:buSzPts val="1800"/>
              <a:buAutoNum type="arabicPeriod"/>
            </a:pPr>
            <a:r>
              <a:rPr lang="fr">
                <a:solidFill>
                  <a:srgbClr val="9900FF"/>
                </a:solidFill>
              </a:rPr>
              <a:t>Cas pratique : gérer un projet de site vitrine et sa communication </a:t>
            </a:r>
            <a:endParaRPr>
              <a:solidFill>
                <a:srgbClr val="9900FF"/>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Introduction</a:t>
            </a:r>
            <a:endParaRPr/>
          </a:p>
        </p:txBody>
      </p:sp>
      <p:sp>
        <p:nvSpPr>
          <p:cNvPr id="73" name="Google Shape;73;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a:t>
            </a:r>
            <a:r>
              <a:rPr lang="fr"/>
              <a:t>Que vous travailliez seul⋅e ou en équipe au développement d’un projet, que vous soyez amené⋅e à gérer une équipe de développement, ou que vous soyez un prestataire réalisant des développements pour des tiers, il est indispensable de s’assurer durant toute la vie du projet que les données de vos utilisateurs ainsi que toutes les opérations effectuées sur celles-ci soient protégées en permanence.”</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fr"/>
              <a:t>Source : Guide RGPD du développeur, CNIL </a:t>
            </a:r>
            <a:r>
              <a:rPr lang="fr" u="sng">
                <a:solidFill>
                  <a:schemeClr val="hlink"/>
                </a:solidFill>
                <a:hlinkClick r:id="rId3"/>
              </a:rPr>
              <a:t>https://github.com/LINCnil/Guide-RGPD-du-developpeur</a:t>
            </a:r>
            <a:r>
              <a:rPr lang="fr"/>
              <a:t>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Sécuriser</a:t>
            </a:r>
            <a:r>
              <a:rPr lang="fr"/>
              <a:t> son environnement de travail</a:t>
            </a:r>
            <a:endParaRPr/>
          </a:p>
        </p:txBody>
      </p:sp>
      <p:sp>
        <p:nvSpPr>
          <p:cNvPr id="79" name="Google Shape;79;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La sécurité de son environnement de travail doit être une priorité car il peut potentiellement contenir des données ou donner accès à des données. Pensez à prendre en compte les risques et à prendre des mesures (mots de passe forts, gestion des droits d’accès des collaborateurs, restrictions par IP…), notamment pour :</a:t>
            </a:r>
            <a:endParaRPr/>
          </a:p>
          <a:p>
            <a:pPr indent="-342900" lvl="0" marL="457200" rtl="0" algn="l">
              <a:spcBef>
                <a:spcPts val="1200"/>
              </a:spcBef>
              <a:spcAft>
                <a:spcPts val="0"/>
              </a:spcAft>
              <a:buSzPts val="1800"/>
              <a:buChar char="-"/>
            </a:pPr>
            <a:r>
              <a:rPr lang="fr"/>
              <a:t>Les outils collaboratifs (</a:t>
            </a:r>
            <a:r>
              <a:rPr lang="fr"/>
              <a:t>Slack, Trello, GitHub, etc.)</a:t>
            </a:r>
            <a:endParaRPr/>
          </a:p>
          <a:p>
            <a:pPr indent="-342900" lvl="0" marL="457200" rtl="0" algn="l">
              <a:spcBef>
                <a:spcPts val="0"/>
              </a:spcBef>
              <a:spcAft>
                <a:spcPts val="0"/>
              </a:spcAft>
              <a:buSzPts val="1800"/>
              <a:buChar char="-"/>
            </a:pPr>
            <a:r>
              <a:rPr lang="fr"/>
              <a:t>Les serveurs de production et de développement</a:t>
            </a:r>
            <a:endParaRPr/>
          </a:p>
          <a:p>
            <a:pPr indent="-342900" lvl="0" marL="457200" rtl="0" algn="l">
              <a:spcBef>
                <a:spcPts val="0"/>
              </a:spcBef>
              <a:spcAft>
                <a:spcPts val="0"/>
              </a:spcAft>
              <a:buSzPts val="1800"/>
              <a:buChar char="-"/>
            </a:pPr>
            <a:r>
              <a:rPr lang="fr"/>
              <a:t>Les outils SaaS</a:t>
            </a:r>
            <a:endParaRPr/>
          </a:p>
          <a:p>
            <a:pPr indent="-342900" lvl="0" marL="457200" rtl="0" algn="l">
              <a:spcBef>
                <a:spcPts val="0"/>
              </a:spcBef>
              <a:spcAft>
                <a:spcPts val="0"/>
              </a:spcAft>
              <a:buSzPts val="1800"/>
              <a:buChar char="-"/>
            </a:pPr>
            <a:r>
              <a:rPr lang="fr"/>
              <a:t>Les postes de travail</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Identifier / désigner un référent RGPD</a:t>
            </a:r>
            <a:endParaRPr/>
          </a:p>
        </p:txBody>
      </p:sp>
      <p:sp>
        <p:nvSpPr>
          <p:cNvPr id="85" name="Google Shape;85;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La plupart des entreprises et des administrations disposent d’un DPO (délégué à la protection des données) ou de services juridiques pilotant la conformité. Ces personnes peuvent vous aider à respecter et comprendre les obligations inhérentes au RGPD.</a:t>
            </a:r>
            <a:endParaRPr/>
          </a:p>
          <a:p>
            <a:pPr indent="0" lvl="0" marL="0" rtl="0" algn="l">
              <a:spcBef>
                <a:spcPts val="1200"/>
              </a:spcBef>
              <a:spcAft>
                <a:spcPts val="1200"/>
              </a:spcAft>
              <a:buNone/>
            </a:pPr>
            <a:r>
              <a:rPr lang="fr"/>
              <a:t>Si vous travaillez en équipe, il est recommandé d’identifier un référent RGPD qui sera chargé</a:t>
            </a:r>
            <a:r>
              <a:rPr lang="fr"/>
              <a:t> du pilotage de la conformité du projet.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fr"/>
              <a:t>Adopter une approche “Privacy by design”</a:t>
            </a:r>
            <a:endParaRPr/>
          </a:p>
          <a:p>
            <a:pPr indent="0" lvl="0" marL="0" rtl="0" algn="l">
              <a:spcBef>
                <a:spcPts val="0"/>
              </a:spcBef>
              <a:spcAft>
                <a:spcPts val="0"/>
              </a:spcAft>
              <a:buClr>
                <a:schemeClr val="dk1"/>
              </a:buClr>
              <a:buSzPct val="39285"/>
              <a:buFont typeface="Arial"/>
              <a:buNone/>
            </a:pPr>
            <a:r>
              <a:t/>
            </a:r>
            <a:endParaRPr/>
          </a:p>
          <a:p>
            <a:pPr indent="0" lvl="0" marL="0" rtl="0" algn="l">
              <a:spcBef>
                <a:spcPts val="0"/>
              </a:spcBef>
              <a:spcAft>
                <a:spcPts val="0"/>
              </a:spcAft>
              <a:buNone/>
            </a:pPr>
            <a:r>
              <a:t/>
            </a:r>
            <a:endParaRPr/>
          </a:p>
        </p:txBody>
      </p:sp>
      <p:sp>
        <p:nvSpPr>
          <p:cNvPr id="91" name="Google Shape;91;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fr"/>
              <a:t>Le principe de Privacy by Design </a:t>
            </a:r>
            <a:r>
              <a:rPr lang="fr"/>
              <a:t>implique de protéger les données personnelles dès la conception d’un projet. Cela permet de limiter les risques d’un éventuel non-respect des règles du RGPD.</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Documenter la conformité</a:t>
            </a:r>
            <a:endParaRPr/>
          </a:p>
        </p:txBody>
      </p:sp>
      <p:sp>
        <p:nvSpPr>
          <p:cNvPr id="97" name="Google Shape;97;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Documenter la conformité d’un projet est essentielle pour prouver la conformité au RGPD à tout moment, pour votre propre gestion mais aussi en cas de contrôle. Les traitements réalisés doivent tous être maîtrisés.</a:t>
            </a:r>
            <a:endParaRPr/>
          </a:p>
          <a:p>
            <a:pPr indent="0" lvl="0" marL="0" rtl="0" algn="l">
              <a:spcBef>
                <a:spcPts val="1200"/>
              </a:spcBef>
              <a:spcAft>
                <a:spcPts val="1200"/>
              </a:spcAft>
              <a:buNone/>
            </a:pPr>
            <a:r>
              <a:rPr lang="fr"/>
              <a:t>Le dossier de conformité devra notamment comporter les éléments suivants : </a:t>
            </a:r>
            <a:r>
              <a:rPr lang="fr" u="sng">
                <a:solidFill>
                  <a:schemeClr val="hlink"/>
                </a:solidFill>
                <a:hlinkClick r:id="rId3"/>
              </a:rPr>
              <a:t>https://www.cnil.fr/fr/documenter-la-conformite</a:t>
            </a:r>
            <a:r>
              <a:rPr lang="fr"/>
              <a:t>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1"/>
          <p:cNvSpPr txBox="1"/>
          <p:nvPr>
            <p:ph type="title"/>
          </p:nvPr>
        </p:nvSpPr>
        <p:spPr>
          <a:xfrm>
            <a:off x="311700" y="445025"/>
            <a:ext cx="8520600" cy="633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Cas pratique : créer un site vitrine pour une mercerie</a:t>
            </a:r>
            <a:endParaRPr/>
          </a:p>
        </p:txBody>
      </p:sp>
      <p:sp>
        <p:nvSpPr>
          <p:cNvPr id="103" name="Google Shape;103;p21"/>
          <p:cNvSpPr txBox="1"/>
          <p:nvPr>
            <p:ph idx="1" type="body"/>
          </p:nvPr>
        </p:nvSpPr>
        <p:spPr>
          <a:xfrm>
            <a:off x="311700" y="1140250"/>
            <a:ext cx="8520600" cy="34287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fr"/>
              <a:t>Une nouvelle mercerie souhaite se doter d’un site vitrine pour présenter sa boutique, ses produits </a:t>
            </a:r>
            <a:r>
              <a:rPr lang="fr"/>
              <a:t>phares, ses horaires et sa localisation. Elle souhaite aussi disposer d’un moyen de la contacter et d’un moyen d’informer / de fidéliser ses clients.</a:t>
            </a:r>
            <a:endParaRPr/>
          </a:p>
          <a:p>
            <a:pPr indent="0" lvl="0" marL="0" rtl="0" algn="l">
              <a:spcBef>
                <a:spcPts val="1200"/>
              </a:spcBef>
              <a:spcAft>
                <a:spcPts val="0"/>
              </a:spcAft>
              <a:buNone/>
            </a:pPr>
            <a:r>
              <a:rPr lang="fr"/>
              <a:t>Vous êtes chargés du projet. Vous vous lancez donc dans la création d’</a:t>
            </a:r>
            <a:r>
              <a:rPr lang="fr"/>
              <a:t>un</a:t>
            </a:r>
            <a:r>
              <a:rPr b="1" lang="fr"/>
              <a:t> site vitrine</a:t>
            </a:r>
            <a:r>
              <a:rPr lang="fr"/>
              <a:t> et d’une </a:t>
            </a:r>
            <a:r>
              <a:rPr b="1" lang="fr"/>
              <a:t>newsletter</a:t>
            </a:r>
            <a:r>
              <a:rPr lang="fr"/>
              <a:t>. Vous documenterez la conformité dès le début du projet selon les consignes suivantes :</a:t>
            </a:r>
            <a:endParaRPr/>
          </a:p>
          <a:p>
            <a:pPr indent="-325755" lvl="0" marL="457200" rtl="0" algn="l">
              <a:spcBef>
                <a:spcPts val="1200"/>
              </a:spcBef>
              <a:spcAft>
                <a:spcPts val="0"/>
              </a:spcAft>
              <a:buSzPct val="100000"/>
              <a:buChar char="-"/>
            </a:pPr>
            <a:r>
              <a:rPr lang="fr"/>
              <a:t>Recensez les traitements et identifiez les données collectées (pensez à bien appliquer le principe de minimisation des données)</a:t>
            </a:r>
            <a:endParaRPr/>
          </a:p>
          <a:p>
            <a:pPr indent="-325755" lvl="0" marL="457200" rtl="0" algn="l">
              <a:spcBef>
                <a:spcPts val="0"/>
              </a:spcBef>
              <a:spcAft>
                <a:spcPts val="0"/>
              </a:spcAft>
              <a:buSzPct val="100000"/>
              <a:buChar char="-"/>
            </a:pPr>
            <a:r>
              <a:rPr lang="fr"/>
              <a:t>Évaluez les risques (quel est le degré de sensibilité des données collectées ?)</a:t>
            </a:r>
            <a:endParaRPr/>
          </a:p>
          <a:p>
            <a:pPr indent="-325755" lvl="0" marL="457200" rtl="0" algn="l">
              <a:spcBef>
                <a:spcPts val="0"/>
              </a:spcBef>
              <a:spcAft>
                <a:spcPts val="0"/>
              </a:spcAft>
              <a:buSzPct val="100000"/>
              <a:buChar char="-"/>
            </a:pPr>
            <a:r>
              <a:rPr lang="fr"/>
              <a:t>Gérez la durée de conservation des données</a:t>
            </a:r>
            <a:endParaRPr/>
          </a:p>
          <a:p>
            <a:pPr indent="-325755" lvl="0" marL="457200" rtl="0" algn="l">
              <a:spcBef>
                <a:spcPts val="0"/>
              </a:spcBef>
              <a:spcAft>
                <a:spcPts val="0"/>
              </a:spcAft>
              <a:buSzPct val="100000"/>
              <a:buChar char="-"/>
            </a:pPr>
            <a:r>
              <a:rPr lang="fr"/>
              <a:t>Choisissez des outils techniques adaptés et conformes (site, formulaires, newsletter…)</a:t>
            </a:r>
            <a:endParaRPr/>
          </a:p>
          <a:p>
            <a:pPr indent="-325755" lvl="0" marL="457200" rtl="0" algn="l">
              <a:spcBef>
                <a:spcPts val="0"/>
              </a:spcBef>
              <a:spcAft>
                <a:spcPts val="0"/>
              </a:spcAft>
              <a:buSzPct val="100000"/>
              <a:buChar char="-"/>
            </a:pPr>
            <a:r>
              <a:rPr lang="fr"/>
              <a:t>Appliquez les règles élémentaires en matière de sécurité</a:t>
            </a:r>
            <a:endParaRPr/>
          </a:p>
          <a:p>
            <a:pPr indent="-325755" lvl="0" marL="457200" rtl="0" algn="l">
              <a:spcBef>
                <a:spcPts val="0"/>
              </a:spcBef>
              <a:spcAft>
                <a:spcPts val="0"/>
              </a:spcAft>
              <a:buSzPct val="100000"/>
              <a:buChar char="-"/>
            </a:pPr>
            <a:r>
              <a:rPr lang="fr"/>
              <a:t>Informez les personnes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