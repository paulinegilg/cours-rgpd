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4eed5c4d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4eed5c4d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4acf656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4acf656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4acf656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4acf656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4eed5c4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04eed5c4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4eed5c4d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4eed5c4d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4eed5c4d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4eed5c4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4eed5c4d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4eed5c4d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4eed5c4d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04eed5c4d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04eed5c4d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04eed5c4d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04eed5c4d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04eed5c4d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4eed5c4d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04eed5c4d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paulinegilg/cours-rgp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arteaucitron.io/fr/" TargetMode="External"/><Relationship Id="rId4" Type="http://schemas.openxmlformats.org/officeDocument/2006/relationships/hyperlink" Target="https://github.com/paulinegilg/cours-rgp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noel.strasbourg.eu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leroymerlin.fr/" TargetMode="External"/><Relationship Id="rId4" Type="http://schemas.openxmlformats.org/officeDocument/2006/relationships/hyperlink" Target="https://metropole.rennes.fr/" TargetMode="External"/><Relationship Id="rId5" Type="http://schemas.openxmlformats.org/officeDocument/2006/relationships/hyperlink" Target="https://www.nancy.fr/" TargetMode="External"/><Relationship Id="rId6" Type="http://schemas.openxmlformats.org/officeDocument/2006/relationships/hyperlink" Target="https://www.coindugeek.co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astercaweb.u-strasbg.f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Gérer un projet Web en conformité avec le RGPD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Pauline Gilg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Accès aux diapos et aux exercices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2300" u="sng">
                <a:solidFill>
                  <a:schemeClr val="hlink"/>
                </a:solidFill>
                <a:hlinkClick r:id="rId3"/>
              </a:rPr>
              <a:t>github.com/paulinegilg/cours-rgpd</a:t>
            </a:r>
            <a:r>
              <a:rPr lang="fr" sz="2300"/>
              <a:t> 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programme du cours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/>
              <a:t>Cours 1 - lundi 22 novembre (2h)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Introduction au RGPD (théorie)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/>
              <a:t>Cours 2 - mardi 23 novembre (1h)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Grands principes de la protection des données (théorie)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/>
              <a:t>Cours 3 - lundi 29 novembre (1h)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Gérer un projet Web en conformité avec le RGPD (pratique)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rgbClr val="9900FF"/>
                </a:solidFill>
              </a:rPr>
              <a:t>Cours 4 - mardi 30 novembre (2h)</a:t>
            </a:r>
            <a:endParaRPr b="1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9900FF"/>
                </a:solidFill>
              </a:rPr>
              <a:t>Gérer un projet Web en conformité avec le RGPD (pratique)</a:t>
            </a:r>
            <a:endParaRPr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>
                <a:solidFill>
                  <a:srgbClr val="9900FF"/>
                </a:solidFill>
              </a:rPr>
              <a:t>Cours 4 - mardi 30 novembre (2h)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9900FF"/>
                </a:solidFill>
              </a:rPr>
              <a:t>Gérer un projet Web en conformité avec le RGPD</a:t>
            </a:r>
            <a:endParaRPr b="1">
              <a:solidFill>
                <a:srgbClr val="9900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900FF"/>
              </a:buClr>
              <a:buSzPts val="1800"/>
              <a:buAutoNum type="arabicPeriod"/>
            </a:pPr>
            <a:r>
              <a:rPr lang="fr">
                <a:solidFill>
                  <a:srgbClr val="9900FF"/>
                </a:solidFill>
              </a:rPr>
              <a:t>Les cookies</a:t>
            </a:r>
            <a:endParaRPr>
              <a:solidFill>
                <a:srgbClr val="9900FF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Char char="-"/>
            </a:pPr>
            <a:r>
              <a:rPr lang="fr">
                <a:solidFill>
                  <a:srgbClr val="9900FF"/>
                </a:solidFill>
              </a:rPr>
              <a:t>Qu’est-ce que c’est ? D’où ça vient ?</a:t>
            </a:r>
            <a:endParaRPr>
              <a:solidFill>
                <a:srgbClr val="9900FF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Char char="-"/>
            </a:pPr>
            <a:r>
              <a:rPr lang="fr">
                <a:solidFill>
                  <a:srgbClr val="9900FF"/>
                </a:solidFill>
              </a:rPr>
              <a:t>Les recommandations de la CNIL sur la gestion des cookies</a:t>
            </a:r>
            <a:endParaRPr>
              <a:solidFill>
                <a:srgbClr val="9900FF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Char char="-"/>
            </a:pPr>
            <a:r>
              <a:rPr lang="fr">
                <a:solidFill>
                  <a:srgbClr val="9900FF"/>
                </a:solidFill>
              </a:rPr>
              <a:t>Exercice 1 : installer un gestionnaire de cookies sur un site (tarteaucitron.js)</a:t>
            </a:r>
            <a:endParaRPr>
              <a:solidFill>
                <a:srgbClr val="99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AutoNum type="arabicPeriod"/>
            </a:pPr>
            <a:r>
              <a:rPr lang="fr">
                <a:solidFill>
                  <a:srgbClr val="9900FF"/>
                </a:solidFill>
              </a:rPr>
              <a:t>Checklist pour auditer la conformité d’un site Web</a:t>
            </a:r>
            <a:endParaRPr>
              <a:solidFill>
                <a:srgbClr val="99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AutoNum type="arabicPeriod"/>
            </a:pPr>
            <a:r>
              <a:rPr lang="fr">
                <a:solidFill>
                  <a:srgbClr val="9900FF"/>
                </a:solidFill>
              </a:rPr>
              <a:t>Exercice 1 : comparer 4 sites</a:t>
            </a:r>
            <a:endParaRPr>
              <a:solidFill>
                <a:srgbClr val="99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AutoNum type="arabicPeriod"/>
            </a:pPr>
            <a:r>
              <a:rPr lang="fr">
                <a:solidFill>
                  <a:srgbClr val="9900FF"/>
                </a:solidFill>
              </a:rPr>
              <a:t>Exercice 2 : auditer le site du master CAWEB</a:t>
            </a:r>
            <a:r>
              <a:rPr lang="fr">
                <a:solidFill>
                  <a:srgbClr val="9900FF"/>
                </a:solidFill>
              </a:rPr>
              <a:t> </a:t>
            </a:r>
            <a:endParaRPr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cookies : qu’est-ce que c’est ? D’où ça vient ?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fr">
                <a:solidFill>
                  <a:srgbClr val="9900FF"/>
                </a:solidFill>
              </a:rPr>
              <a:t>La plupart des sites web utilisent des cookies. Il s’agit de petits fichiers déposés par votre navigateur sur votre ordinateur quand vous naviguez sur le web.</a:t>
            </a:r>
            <a:endParaRPr b="1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Il existe plusieurs types de cookies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/>
              <a:t>Les cookies techniques</a:t>
            </a:r>
            <a:r>
              <a:rPr lang="fr"/>
              <a:t> : nécessaires au bon fonctionnement des services en ligne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/>
              <a:t>Les cookies commerciaux ou publicitaires.</a:t>
            </a:r>
            <a:r>
              <a:rPr lang="fr"/>
              <a:t> Ils peuvent notamment provenir de 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fr"/>
              <a:t>Vidéos</a:t>
            </a:r>
            <a:r>
              <a:rPr lang="fr"/>
              <a:t> (YouTube, Dailymotion, Vimeo, etc…)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fr"/>
              <a:t>Encarts réseaux sociaux</a:t>
            </a:r>
            <a:r>
              <a:rPr lang="fr"/>
              <a:t> (posts ou pages Facebook, Instagram ou Twitter, boutons de like ou d’abonnement, etc…)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fr"/>
              <a:t>Publicités personnalisées</a:t>
            </a:r>
            <a:endParaRPr b="1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fr"/>
              <a:t>Outils de mesure d’audience</a:t>
            </a:r>
            <a:r>
              <a:rPr lang="fr"/>
              <a:t> (ex. : Google Analytics, …)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fr"/>
              <a:t>Pixels de tracking</a:t>
            </a:r>
            <a:r>
              <a:rPr lang="fr"/>
              <a:t> (Facebook, journaux en ligne, plateformes de vente, etc…)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Potentiellement </a:t>
            </a:r>
            <a:r>
              <a:rPr b="1" lang="fr"/>
              <a:t>tout autre élément provenant d’un autre site web</a:t>
            </a:r>
            <a:r>
              <a:rPr lang="fr"/>
              <a:t> et intégré sous forme d’iframe ou d’embed (pour plus d’infos, contactez directement votre prestataire)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Cookies : faut-il demander le consentement ?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cookies non soumis au consentement (liste non exhaustive) 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cookies conservant le choix exprimé par les utilisateurs sur le dépôt de traceurs (par exemple, pour les gestionnaires de cookies)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cookies destinés à l’authentification auprès d’un service, y compris ceux visant à assurer la sécurité du mécanisme d’authentification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cookies destinés à garder en mémoire le contenu d’un panier d’achat sur un site marchand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cookies de personnalisation de l'interface utilisateur (par exemple, pour le choix de la langue ou de la présentation d’un service)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Certains traceurs de mesure d’audience dès lors qu’ils respectent certaines 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/>
              <a:t>D’une manière générale, on peut dire que les cookies techniques ne sont pas soumis au consentement (si leur rôle reste strictement technique).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/>
              <a:t>Les cookies commerciaux ou publicitaires sont quant à eux soumis au consentement.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recommandations de la CNIL sur les cookies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Fin 2020, la CNIL a adopté une recommandation portant sur l’usage de cookies, incitant les entreprises et les administrations à se mettre en conformité d’ici le 31 mars 2021 au plus tard.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Voici les points importants à prendre en compte pour être en conformité 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internautes doivent pouvoir </a:t>
            </a:r>
            <a:r>
              <a:rPr b="1" lang="fr"/>
              <a:t>donner leur consentement</a:t>
            </a:r>
            <a:r>
              <a:rPr lang="fr"/>
              <a:t> au dépôt de cookies par un acte positif clair (comme le fait de cliquer sur “j’accepte” dans une bannière cookie)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La simple </a:t>
            </a:r>
            <a:r>
              <a:rPr b="1" lang="fr"/>
              <a:t>poursuite de la navigation</a:t>
            </a:r>
            <a:r>
              <a:rPr lang="fr"/>
              <a:t> sur un site </a:t>
            </a:r>
            <a:r>
              <a:rPr b="1" lang="fr"/>
              <a:t>ne peut plus être considérée comme une expression valide du consentement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utilisateurs doivent être en mesure de </a:t>
            </a:r>
            <a:r>
              <a:rPr b="1" lang="fr"/>
              <a:t>retirer leur consentement</a:t>
            </a:r>
            <a:r>
              <a:rPr lang="fr"/>
              <a:t>, facilement, et à tout moment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fr"/>
              <a:t>Refuser les cookies doit être aussi aisé que de les accepter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internautes doivent être </a:t>
            </a:r>
            <a:r>
              <a:rPr b="1" lang="fr"/>
              <a:t>clairement informés</a:t>
            </a:r>
            <a:r>
              <a:rPr lang="fr"/>
              <a:t> des finalités des cookies avant de consentir, ainsi que des conséquences qui s’attachent à une acceptation ou un refus de cookies.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Exercice 1 : installer un gestionnaire de cookies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Gestionnaire de cookies utilisé : Tarte au citron (version gratuite / installation manuelle)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https://tarteaucitron.io/fr/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Récupérer le code de l’exercice sur </a:t>
            </a:r>
            <a:r>
              <a:rPr lang="fr" u="sng">
                <a:solidFill>
                  <a:schemeClr val="hlink"/>
                </a:solidFill>
                <a:hlinkClick r:id="rId4"/>
              </a:rPr>
              <a:t>https://github.com/paulinegilg/cours-rgpd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Consignes : 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Installer le script principal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Configurer le bandeau et le panneau de gestion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Installer le script pour Google Analytics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Installer le script pour YouTube et intégrer correctement la vidéo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Installer les scripts pour Twitter et intégrer correctement les éléments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Modifier le texte sur le bandeau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Utiliser les outils de développement sur Chrome pour détecter les cookies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487275"/>
            <a:ext cx="8520600" cy="30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fr"/>
              <a:t>Aller dans les options de Chrome &gt; Plus d’outils &gt; Outils de développement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fr"/>
              <a:t>Cliquer sur l’onglet Application, puis sur Cookies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Il est préférable de faire des tests en vidant son cache ou en navigation privée pour éviter d’être “pollué” par des cookies résiduels.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Vous pouvez utiliser cet outil pour tester la configuration de votre gestionnaire de cookies. Aucun cookie publicitaire ou commercial ne doit être déposé avant d’avoir cliqué sur le bouton d’acceptation.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Exemple : </a:t>
            </a:r>
            <a:r>
              <a:rPr lang="fr" u="sng">
                <a:solidFill>
                  <a:schemeClr val="hlink"/>
                </a:solidFill>
                <a:hlinkClick r:id="rId3"/>
              </a:rPr>
              <a:t>https://noel.strasbourg.eu/</a:t>
            </a:r>
            <a:r>
              <a:rPr lang="fr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Checklist pour auditer un site Web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fr"/>
              <a:t>Cookies :</a:t>
            </a:r>
            <a:endParaRPr b="1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Un gestionnaire de cookies est installé et fonctionne correctement (pas de cookie déposé dans consentement, vérifier dans le navigateur)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 gestionnaire répond à toutes les recommandations de la CNIL :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internautes doivent pouvoir donner leur consentement au dépôt de cookies par un acte positif clair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La simple poursuite de la navigation sur un site ne peut plus être considérée comme une expression valide du consentement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utilisateurs doivent être en mesure de retirer leur consentement, facilement, et à tout moment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Refuser les cookies doit être aussi aisé que de les accepter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internautes doivent être clairement informés des finalités des cookies avant de consentir, ainsi que des conséquences qui s’attachent à une acceptation ou un refus de cookies.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fr"/>
              <a:t>Information des personnes : </a:t>
            </a:r>
            <a:endParaRPr b="1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Une politique de confidentialité complète, claire et accessible est disponible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Une politique cookies est disponible (si possible à part de la politique de confidentialité)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Des mentions d’information sont disponibles chaque fois que des données sont collectées (formulaires de contact, formulaires d’inscription, etc.)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Des mentions légales sont disponibles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Exercice 2 : comparer 4 sites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https://www.leroymerlin.fr/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4"/>
              </a:rPr>
              <a:t>https://metropole.rennes.fr/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5"/>
              </a:rPr>
              <a:t>https://www.nancy.fr/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6"/>
              </a:rPr>
              <a:t>https://www.coindugeek.com/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Suivez la checklist pour voir si ces sites sont conformes.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Exercice 3 : auditer le site du Master CAWEB 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Suivez la checklist pour voir si le site du Master est conforme.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Proposez des pistes d’amélioration si nécessaire.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https://mastercaweb.u-strasbg.fr/</a:t>
            </a:r>
            <a:r>
              <a:rPr lang="fr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