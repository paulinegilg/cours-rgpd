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02a6e33a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02a6e33a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2a6e33a5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2a6e33a5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2a6e33a58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2a6e33a58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2a6e33a5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2a6e33a5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02a6e33a58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02a6e33a58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2a6e33a58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2a6e33a58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02a6e33a58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02a6e33a58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02a6e33a58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02a6e33a58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2a6e33a5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2a6e33a5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02a6e33a5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02a6e33a5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02a6e33a58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02a6e33a58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02a6e33a58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02a6e33a58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02a6e33a58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02a6e33a58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02a6e33a58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02a6e33a58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02a6e33a58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02a6e33a58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02a6e33a58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02a6e33a58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02a6e33a58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02a6e33a58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02a6e33a58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02a6e33a58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02a6e33a58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02a6e33a58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02a6e33a58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02a6e33a58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02a6e33a58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02a6e33a58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02a6e33a58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02a6e33a58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2a6e33a58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2a6e33a58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02a6e33a58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02a6e33a58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02a6e33a58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02a6e33a58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02a6e33a58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02a6e33a58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02a6e33a58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02a6e33a58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2a6e33a58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2a6e33a58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02a6e33a58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02a6e33a58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02a6e33a58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02a6e33a58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02a6e33a58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02a6e33a58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02a6e33a58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02a6e33a58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02a6e33a58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02a6e33a58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02a6e33a58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02a6e33a58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02a6e33a58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02a6e33a58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cnil.fr/fr/la-protection-des-donnees-dans-le-mond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www.cnil.fr/fr/cookies-sanction-de-60-millions-deuros-lencontre-de-google-llc-et-de-40-millions-deuros-lencontre-d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Gérer un projet Web en conformité avec le RGPD</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Pauline Gilg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programme du cours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fr"/>
              <a:t>Cours 1 - lundi 22 novembre (2h)</a:t>
            </a:r>
            <a:endParaRPr b="1"/>
          </a:p>
          <a:p>
            <a:pPr indent="0" lvl="0" marL="0" rtl="0" algn="l">
              <a:spcBef>
                <a:spcPts val="1200"/>
              </a:spcBef>
              <a:spcAft>
                <a:spcPts val="0"/>
              </a:spcAft>
              <a:buNone/>
            </a:pPr>
            <a:r>
              <a:rPr lang="fr"/>
              <a:t>Introduction au RGPD (théorie)</a:t>
            </a:r>
            <a:endParaRPr/>
          </a:p>
          <a:p>
            <a:pPr indent="0" lvl="0" marL="0" rtl="0" algn="l">
              <a:spcBef>
                <a:spcPts val="1200"/>
              </a:spcBef>
              <a:spcAft>
                <a:spcPts val="0"/>
              </a:spcAft>
              <a:buNone/>
            </a:pPr>
            <a:r>
              <a:rPr b="1" lang="fr">
                <a:solidFill>
                  <a:srgbClr val="9900FF"/>
                </a:solidFill>
              </a:rPr>
              <a:t>Cours 2 - mardi 23 novembre (1h)</a:t>
            </a:r>
            <a:endParaRPr b="1">
              <a:solidFill>
                <a:srgbClr val="9900FF"/>
              </a:solidFill>
            </a:endParaRPr>
          </a:p>
          <a:p>
            <a:pPr indent="0" lvl="0" marL="0" rtl="0" algn="l">
              <a:spcBef>
                <a:spcPts val="1200"/>
              </a:spcBef>
              <a:spcAft>
                <a:spcPts val="0"/>
              </a:spcAft>
              <a:buNone/>
            </a:pPr>
            <a:r>
              <a:rPr lang="fr">
                <a:solidFill>
                  <a:srgbClr val="9900FF"/>
                </a:solidFill>
              </a:rPr>
              <a:t>Grands principes de la protection des données (théorie)</a:t>
            </a:r>
            <a:endParaRPr>
              <a:solidFill>
                <a:srgbClr val="9900FF"/>
              </a:solidFill>
            </a:endParaRPr>
          </a:p>
          <a:p>
            <a:pPr indent="0" lvl="0" marL="0" rtl="0" algn="l">
              <a:spcBef>
                <a:spcPts val="1200"/>
              </a:spcBef>
              <a:spcAft>
                <a:spcPts val="0"/>
              </a:spcAft>
              <a:buNone/>
            </a:pPr>
            <a:r>
              <a:rPr b="1" lang="fr"/>
              <a:t>Cours 3 - lundi 29 novembre (1h)</a:t>
            </a:r>
            <a:endParaRPr b="1"/>
          </a:p>
          <a:p>
            <a:pPr indent="0" lvl="0" marL="0" rtl="0" algn="l">
              <a:spcBef>
                <a:spcPts val="1200"/>
              </a:spcBef>
              <a:spcAft>
                <a:spcPts val="0"/>
              </a:spcAft>
              <a:buNone/>
            </a:pPr>
            <a:r>
              <a:rPr lang="fr"/>
              <a:t>Gérer un projet Web en conformité avec le RGPD (pratique)</a:t>
            </a:r>
            <a:endParaRPr/>
          </a:p>
          <a:p>
            <a:pPr indent="0" lvl="0" marL="0" rtl="0" algn="l">
              <a:spcBef>
                <a:spcPts val="1200"/>
              </a:spcBef>
              <a:spcAft>
                <a:spcPts val="0"/>
              </a:spcAft>
              <a:buNone/>
            </a:pPr>
            <a:r>
              <a:rPr b="1" lang="fr"/>
              <a:t>Cours 4 - mardi 30 novembre (2h)</a:t>
            </a:r>
            <a:endParaRPr b="1"/>
          </a:p>
          <a:p>
            <a:pPr indent="0" lvl="0" marL="0" rtl="0" algn="l">
              <a:spcBef>
                <a:spcPts val="1200"/>
              </a:spcBef>
              <a:spcAft>
                <a:spcPts val="1200"/>
              </a:spcAft>
              <a:buNone/>
            </a:pPr>
            <a:r>
              <a:rPr lang="fr"/>
              <a:t>Gérer un projet Web en conformité avec le RGPD (pratique)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rgbClr val="9900FF"/>
                </a:solidFill>
              </a:rPr>
              <a:t>Cours </a:t>
            </a:r>
            <a:r>
              <a:rPr lang="fr">
                <a:solidFill>
                  <a:srgbClr val="9900FF"/>
                </a:solidFill>
              </a:rPr>
              <a:t>2 - mardi 23 novembre (1h)</a:t>
            </a:r>
            <a:endParaRPr>
              <a:solidFill>
                <a:srgbClr val="9900FF"/>
              </a:solidFill>
            </a:endParaRPr>
          </a:p>
          <a:p>
            <a:pPr indent="0" lvl="0" marL="0" rtl="0" algn="l">
              <a:spcBef>
                <a:spcPts val="0"/>
              </a:spcBef>
              <a:spcAft>
                <a:spcPts val="0"/>
              </a:spcAft>
              <a:buNone/>
            </a:pPr>
            <a:r>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fr">
                <a:solidFill>
                  <a:srgbClr val="9900FF"/>
                </a:solidFill>
              </a:rPr>
              <a:t>Grands principes de la protection des données</a:t>
            </a:r>
            <a:endParaRPr b="1">
              <a:solidFill>
                <a:srgbClr val="9900FF"/>
              </a:solidFill>
            </a:endParaRPr>
          </a:p>
          <a:p>
            <a:pPr indent="-342900" lvl="0" marL="457200" rtl="0" algn="l">
              <a:spcBef>
                <a:spcPts val="1200"/>
              </a:spcBef>
              <a:spcAft>
                <a:spcPts val="0"/>
              </a:spcAft>
              <a:buClr>
                <a:srgbClr val="9900FF"/>
              </a:buClr>
              <a:buSzPts val="1800"/>
              <a:buAutoNum type="romanUcPeriod"/>
            </a:pPr>
            <a:r>
              <a:rPr lang="fr">
                <a:solidFill>
                  <a:srgbClr val="9900FF"/>
                </a:solidFill>
              </a:rPr>
              <a:t>Les 8 règles d’or</a:t>
            </a:r>
            <a:endParaRPr>
              <a:solidFill>
                <a:srgbClr val="9900FF"/>
              </a:solidFill>
            </a:endParaRPr>
          </a:p>
          <a:p>
            <a:pPr indent="-342900" lvl="0" marL="914400" rtl="0" algn="l">
              <a:spcBef>
                <a:spcPts val="0"/>
              </a:spcBef>
              <a:spcAft>
                <a:spcPts val="0"/>
              </a:spcAft>
              <a:buClr>
                <a:srgbClr val="9900FF"/>
              </a:buClr>
              <a:buSzPts val="1800"/>
              <a:buAutoNum type="arabicPeriod"/>
            </a:pPr>
            <a:r>
              <a:rPr lang="fr">
                <a:solidFill>
                  <a:srgbClr val="9900FF"/>
                </a:solidFill>
              </a:rPr>
              <a:t>Base légale du traitement</a:t>
            </a:r>
            <a:endParaRPr>
              <a:solidFill>
                <a:srgbClr val="9900FF"/>
              </a:solidFill>
            </a:endParaRPr>
          </a:p>
          <a:p>
            <a:pPr indent="-342900" lvl="0" marL="914400" rtl="0" algn="l">
              <a:spcBef>
                <a:spcPts val="0"/>
              </a:spcBef>
              <a:spcAft>
                <a:spcPts val="0"/>
              </a:spcAft>
              <a:buClr>
                <a:srgbClr val="9900FF"/>
              </a:buClr>
              <a:buSzPts val="1800"/>
              <a:buAutoNum type="arabicPeriod"/>
            </a:pPr>
            <a:r>
              <a:rPr lang="fr">
                <a:solidFill>
                  <a:srgbClr val="9900FF"/>
                </a:solidFill>
              </a:rPr>
              <a:t>Finalité du traitement</a:t>
            </a:r>
            <a:endParaRPr>
              <a:solidFill>
                <a:srgbClr val="9900FF"/>
              </a:solidFill>
            </a:endParaRPr>
          </a:p>
          <a:p>
            <a:pPr indent="-342900" lvl="0" marL="914400" rtl="0" algn="l">
              <a:spcBef>
                <a:spcPts val="0"/>
              </a:spcBef>
              <a:spcAft>
                <a:spcPts val="0"/>
              </a:spcAft>
              <a:buClr>
                <a:srgbClr val="9900FF"/>
              </a:buClr>
              <a:buSzPts val="1800"/>
              <a:buAutoNum type="arabicPeriod"/>
            </a:pPr>
            <a:r>
              <a:rPr lang="fr">
                <a:solidFill>
                  <a:srgbClr val="9900FF"/>
                </a:solidFill>
              </a:rPr>
              <a:t>Minimisation des données</a:t>
            </a:r>
            <a:endParaRPr>
              <a:solidFill>
                <a:srgbClr val="9900FF"/>
              </a:solidFill>
            </a:endParaRPr>
          </a:p>
          <a:p>
            <a:pPr indent="-342900" lvl="0" marL="914400" rtl="0" algn="l">
              <a:spcBef>
                <a:spcPts val="0"/>
              </a:spcBef>
              <a:spcAft>
                <a:spcPts val="0"/>
              </a:spcAft>
              <a:buClr>
                <a:srgbClr val="9900FF"/>
              </a:buClr>
              <a:buSzPts val="1800"/>
              <a:buAutoNum type="arabicPeriod"/>
            </a:pPr>
            <a:r>
              <a:rPr lang="fr">
                <a:solidFill>
                  <a:srgbClr val="9900FF"/>
                </a:solidFill>
              </a:rPr>
              <a:t>Protection des données sensibles</a:t>
            </a:r>
            <a:endParaRPr>
              <a:solidFill>
                <a:srgbClr val="9900FF"/>
              </a:solidFill>
            </a:endParaRPr>
          </a:p>
          <a:p>
            <a:pPr indent="-342900" lvl="0" marL="914400" rtl="0" algn="l">
              <a:spcBef>
                <a:spcPts val="0"/>
              </a:spcBef>
              <a:spcAft>
                <a:spcPts val="0"/>
              </a:spcAft>
              <a:buClr>
                <a:srgbClr val="9900FF"/>
              </a:buClr>
              <a:buSzPts val="1800"/>
              <a:buAutoNum type="arabicPeriod"/>
            </a:pPr>
            <a:r>
              <a:rPr lang="fr">
                <a:solidFill>
                  <a:srgbClr val="9900FF"/>
                </a:solidFill>
              </a:rPr>
              <a:t>Durée de conservation </a:t>
            </a:r>
            <a:endParaRPr>
              <a:solidFill>
                <a:srgbClr val="9900FF"/>
              </a:solidFill>
            </a:endParaRPr>
          </a:p>
          <a:p>
            <a:pPr indent="-342900" lvl="0" marL="914400" rtl="0" algn="l">
              <a:spcBef>
                <a:spcPts val="0"/>
              </a:spcBef>
              <a:spcAft>
                <a:spcPts val="0"/>
              </a:spcAft>
              <a:buClr>
                <a:srgbClr val="9900FF"/>
              </a:buClr>
              <a:buSzPts val="1800"/>
              <a:buAutoNum type="arabicPeriod"/>
            </a:pPr>
            <a:r>
              <a:rPr lang="fr">
                <a:solidFill>
                  <a:srgbClr val="9900FF"/>
                </a:solidFill>
              </a:rPr>
              <a:t>Sécurité</a:t>
            </a:r>
            <a:endParaRPr>
              <a:solidFill>
                <a:srgbClr val="9900FF"/>
              </a:solidFill>
            </a:endParaRPr>
          </a:p>
          <a:p>
            <a:pPr indent="-342900" lvl="0" marL="914400" rtl="0" algn="l">
              <a:spcBef>
                <a:spcPts val="0"/>
              </a:spcBef>
              <a:spcAft>
                <a:spcPts val="0"/>
              </a:spcAft>
              <a:buClr>
                <a:srgbClr val="9900FF"/>
              </a:buClr>
              <a:buSzPts val="1800"/>
              <a:buAutoNum type="arabicPeriod"/>
            </a:pPr>
            <a:r>
              <a:rPr lang="fr">
                <a:solidFill>
                  <a:srgbClr val="9900FF"/>
                </a:solidFill>
              </a:rPr>
              <a:t>Transparence à l’égard des personnes</a:t>
            </a:r>
            <a:endParaRPr>
              <a:solidFill>
                <a:srgbClr val="9900FF"/>
              </a:solidFill>
            </a:endParaRPr>
          </a:p>
          <a:p>
            <a:pPr indent="-342900" lvl="0" marL="914400" rtl="0" algn="l">
              <a:spcBef>
                <a:spcPts val="0"/>
              </a:spcBef>
              <a:spcAft>
                <a:spcPts val="0"/>
              </a:spcAft>
              <a:buClr>
                <a:srgbClr val="9900FF"/>
              </a:buClr>
              <a:buSzPts val="1800"/>
              <a:buAutoNum type="arabicPeriod"/>
            </a:pPr>
            <a:r>
              <a:rPr lang="fr">
                <a:solidFill>
                  <a:srgbClr val="9900FF"/>
                </a:solidFill>
              </a:rPr>
              <a:t>Droits des personnes</a:t>
            </a:r>
            <a:endParaRPr>
              <a:solidFill>
                <a:srgbClr val="9900FF"/>
              </a:solidFill>
            </a:endParaRPr>
          </a:p>
          <a:p>
            <a:pPr indent="-342900" lvl="0" marL="457200" rtl="0" algn="l">
              <a:spcBef>
                <a:spcPts val="0"/>
              </a:spcBef>
              <a:spcAft>
                <a:spcPts val="0"/>
              </a:spcAft>
              <a:buClr>
                <a:srgbClr val="9900FF"/>
              </a:buClr>
              <a:buSzPts val="1800"/>
              <a:buAutoNum type="romanUcPeriod"/>
            </a:pPr>
            <a:r>
              <a:rPr lang="fr">
                <a:solidFill>
                  <a:srgbClr val="9900FF"/>
                </a:solidFill>
              </a:rPr>
              <a:t>Transferts de données hors UE</a:t>
            </a:r>
            <a:endParaRPr>
              <a:solidFill>
                <a:srgbClr val="99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Clr>
                <a:srgbClr val="9900FF"/>
              </a:buClr>
              <a:buSzPts val="1800"/>
              <a:buAutoNum type="arabicPeriod"/>
            </a:pPr>
            <a:r>
              <a:rPr lang="fr">
                <a:solidFill>
                  <a:srgbClr val="9900FF"/>
                </a:solidFill>
              </a:rPr>
              <a:t>Base légale du traitement</a:t>
            </a:r>
            <a:endParaRPr>
              <a:solidFill>
                <a:srgbClr val="9900FF"/>
              </a:solidFill>
            </a:endParaRPr>
          </a:p>
          <a:p>
            <a:pPr indent="-342900" lvl="0" marL="914400" rtl="0" algn="l">
              <a:spcBef>
                <a:spcPts val="0"/>
              </a:spcBef>
              <a:spcAft>
                <a:spcPts val="0"/>
              </a:spcAft>
              <a:buSzPts val="1800"/>
              <a:buAutoNum type="arabicPeriod"/>
            </a:pPr>
            <a:r>
              <a:rPr lang="fr"/>
              <a:t>Finalité du traitement</a:t>
            </a:r>
            <a:endParaRPr/>
          </a:p>
          <a:p>
            <a:pPr indent="-342900" lvl="0" marL="914400" rtl="0" algn="l">
              <a:spcBef>
                <a:spcPts val="0"/>
              </a:spcBef>
              <a:spcAft>
                <a:spcPts val="0"/>
              </a:spcAft>
              <a:buSzPts val="1800"/>
              <a:buAutoNum type="arabicPeriod"/>
            </a:pPr>
            <a:r>
              <a:rPr lang="fr"/>
              <a:t>Minimisation des données</a:t>
            </a:r>
            <a:endParaRPr/>
          </a:p>
          <a:p>
            <a:pPr indent="-342900" lvl="0" marL="914400" rtl="0" algn="l">
              <a:spcBef>
                <a:spcPts val="0"/>
              </a:spcBef>
              <a:spcAft>
                <a:spcPts val="0"/>
              </a:spcAft>
              <a:buSzPts val="1800"/>
              <a:buAutoNum type="arabicPeriod"/>
            </a:pPr>
            <a:r>
              <a:rPr lang="fr"/>
              <a:t>Protection des données sensibles</a:t>
            </a:r>
            <a:endParaRPr/>
          </a:p>
          <a:p>
            <a:pPr indent="-342900" lvl="0" marL="914400" rtl="0" algn="l">
              <a:spcBef>
                <a:spcPts val="0"/>
              </a:spcBef>
              <a:spcAft>
                <a:spcPts val="0"/>
              </a:spcAft>
              <a:buSzPts val="1800"/>
              <a:buAutoNum type="arabicPeriod"/>
            </a:pPr>
            <a:r>
              <a:rPr lang="fr"/>
              <a:t>Durée de conservation </a:t>
            </a:r>
            <a:endParaRPr/>
          </a:p>
          <a:p>
            <a:pPr indent="-342900" lvl="0" marL="914400" rtl="0" algn="l">
              <a:spcBef>
                <a:spcPts val="0"/>
              </a:spcBef>
              <a:spcAft>
                <a:spcPts val="0"/>
              </a:spcAft>
              <a:buSzPts val="1800"/>
              <a:buAutoNum type="arabicPeriod"/>
            </a:pPr>
            <a:r>
              <a:rPr lang="fr"/>
              <a:t>Sécurité</a:t>
            </a:r>
            <a:endParaRPr/>
          </a:p>
          <a:p>
            <a:pPr indent="-342900" lvl="0" marL="914400" rtl="0" algn="l">
              <a:spcBef>
                <a:spcPts val="0"/>
              </a:spcBef>
              <a:spcAft>
                <a:spcPts val="0"/>
              </a:spcAft>
              <a:buSzPts val="1800"/>
              <a:buAutoNum type="arabicPeriod"/>
            </a:pPr>
            <a:r>
              <a:rPr lang="fr"/>
              <a:t>Transparence à l’égard des personnes</a:t>
            </a:r>
            <a:endParaRPr/>
          </a:p>
          <a:p>
            <a:pPr indent="-342900" lvl="0" marL="914400" rtl="0" algn="l">
              <a:spcBef>
                <a:spcPts val="0"/>
              </a:spcBef>
              <a:spcAft>
                <a:spcPts val="0"/>
              </a:spcAft>
              <a:buSzPts val="1800"/>
              <a:buAutoNum type="arabicPeriod"/>
            </a:pPr>
            <a:r>
              <a:rPr lang="fr"/>
              <a:t>Droits des personnes</a:t>
            </a:r>
            <a:endParaRPr/>
          </a:p>
          <a:p>
            <a:pPr indent="-342900" lvl="0" marL="457200" rtl="0" algn="l">
              <a:spcBef>
                <a:spcPts val="0"/>
              </a:spcBef>
              <a:spcAft>
                <a:spcPts val="0"/>
              </a:spcAft>
              <a:buSzPts val="1800"/>
              <a:buAutoNum type="romanUcPeriod"/>
            </a:pPr>
            <a:r>
              <a:rPr lang="fr"/>
              <a:t>Transferts de données hors UE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fr"/>
              <a:t>Base légale du traitement</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rgbClr val="9900FF"/>
                </a:solidFill>
              </a:rPr>
              <a:t>La base légale d'un traitement est ce qui autorise légalement sa mise en œuvre, ce qui donne le droit à un organisme de traiter des données à caractère personnel. On peut également parler de « fondement juridique » ou de « base juridique » du traitement.</a:t>
            </a:r>
            <a:endParaRPr b="1">
              <a:solidFill>
                <a:srgbClr val="9900FF"/>
              </a:solidFill>
            </a:endParaRPr>
          </a:p>
          <a:p>
            <a:pPr indent="0" lvl="0" marL="0" rtl="0" algn="l">
              <a:spcBef>
                <a:spcPts val="1200"/>
              </a:spcBef>
              <a:spcAft>
                <a:spcPts val="0"/>
              </a:spcAft>
              <a:buNone/>
            </a:pPr>
            <a:r>
              <a:rPr b="1" lang="fr"/>
              <a:t>Pour être licite, un traitement doit se baser sur au moins une de ces 6 bases.</a:t>
            </a:r>
            <a:endParaRPr b="1"/>
          </a:p>
          <a:p>
            <a:pPr indent="0" lvl="0" marL="0" rtl="0" algn="r">
              <a:spcBef>
                <a:spcPts val="1200"/>
              </a:spcBef>
              <a:spcAft>
                <a:spcPts val="0"/>
              </a:spcAft>
              <a:buNone/>
            </a:pPr>
            <a:r>
              <a:t/>
            </a:r>
            <a:endParaRPr/>
          </a:p>
          <a:p>
            <a:pPr indent="0" lvl="0" marL="0" rtl="0" algn="r">
              <a:spcBef>
                <a:spcPts val="1200"/>
              </a:spcBef>
              <a:spcAft>
                <a:spcPts val="0"/>
              </a:spcAft>
              <a:buNone/>
            </a:pPr>
            <a:r>
              <a:t/>
            </a:r>
            <a:endParaRPr/>
          </a:p>
          <a:p>
            <a:pPr indent="0" lvl="0" marL="0" rtl="0" algn="r">
              <a:spcBef>
                <a:spcPts val="1200"/>
              </a:spcBef>
              <a:spcAft>
                <a:spcPts val="1200"/>
              </a:spcAft>
              <a:buNone/>
            </a:pPr>
            <a:r>
              <a:rPr lang="fr"/>
              <a:t>Source : CNIL.fr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6 bases légales</a:t>
            </a:r>
            <a:endParaRPr/>
          </a:p>
        </p:txBody>
      </p:sp>
      <p:sp>
        <p:nvSpPr>
          <p:cNvPr id="85" name="Google Shape;85;p18"/>
          <p:cNvSpPr txBox="1"/>
          <p:nvPr>
            <p:ph idx="1" type="body"/>
          </p:nvPr>
        </p:nvSpPr>
        <p:spPr>
          <a:xfrm>
            <a:off x="311700" y="4325325"/>
            <a:ext cx="8520600" cy="446400"/>
          </a:xfrm>
          <a:prstGeom prst="rect">
            <a:avLst/>
          </a:prstGeom>
        </p:spPr>
        <p:txBody>
          <a:bodyPr anchorCtr="0" anchor="t" bIns="91425" lIns="91425" spcFirstLastPara="1" rIns="91425" wrap="square" tIns="91425">
            <a:normAutofit/>
          </a:bodyPr>
          <a:lstStyle/>
          <a:p>
            <a:pPr indent="0" lvl="0" marL="0" rtl="0" algn="ctr">
              <a:lnSpc>
                <a:spcPct val="95000"/>
              </a:lnSpc>
              <a:spcBef>
                <a:spcPts val="0"/>
              </a:spcBef>
              <a:spcAft>
                <a:spcPts val="1200"/>
              </a:spcAft>
              <a:buNone/>
            </a:pPr>
            <a:r>
              <a:rPr lang="fr" sz="1400"/>
              <a:t>Source : CNIL.fr</a:t>
            </a:r>
            <a:endParaRPr sz="1400"/>
          </a:p>
        </p:txBody>
      </p:sp>
      <p:pic>
        <p:nvPicPr>
          <p:cNvPr id="86" name="Google Shape;86;p18"/>
          <p:cNvPicPr preferRelativeResize="0"/>
          <p:nvPr/>
        </p:nvPicPr>
        <p:blipFill>
          <a:blip r:embed="rId3">
            <a:alphaModFix/>
          </a:blip>
          <a:stretch>
            <a:fillRect/>
          </a:stretch>
        </p:blipFill>
        <p:spPr>
          <a:xfrm>
            <a:off x="1482080" y="1163150"/>
            <a:ext cx="6179833" cy="3169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a:t>
            </a:r>
            <a:r>
              <a:rPr lang="fr"/>
              <a:t>e consentement</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fr">
                <a:solidFill>
                  <a:srgbClr val="9900FF"/>
                </a:solidFill>
              </a:rPr>
              <a:t>“Toute manifestation de volonté libre, spécifique, éclairée et univoque par laquelle la personne concernée accepte, par une déclaration ou par un acte positif clair, que des données à caractère personnel la concernant fassent l’objet d’un traitement.”</a:t>
            </a:r>
            <a:endParaRPr b="1">
              <a:solidFill>
                <a:srgbClr val="9900FF"/>
              </a:solidFill>
            </a:endParaRPr>
          </a:p>
          <a:p>
            <a:pPr indent="0" lvl="0" marL="0" rtl="0" algn="l">
              <a:spcBef>
                <a:spcPts val="1200"/>
              </a:spcBef>
              <a:spcAft>
                <a:spcPts val="0"/>
              </a:spcAft>
              <a:buNone/>
            </a:pPr>
            <a:r>
              <a:rPr lang="fr"/>
              <a:t>Le consentement doit être :</a:t>
            </a:r>
            <a:endParaRPr/>
          </a:p>
          <a:p>
            <a:pPr indent="-325755" lvl="0" marL="457200" rtl="0" algn="l">
              <a:spcBef>
                <a:spcPts val="1200"/>
              </a:spcBef>
              <a:spcAft>
                <a:spcPts val="0"/>
              </a:spcAft>
              <a:buSzPct val="100000"/>
              <a:buChar char="-"/>
            </a:pPr>
            <a:r>
              <a:rPr b="1" lang="fr"/>
              <a:t>Libre</a:t>
            </a:r>
            <a:r>
              <a:rPr lang="fr"/>
              <a:t> : ni contraint si influencé</a:t>
            </a:r>
            <a:endParaRPr/>
          </a:p>
          <a:p>
            <a:pPr indent="-325755" lvl="0" marL="457200" rtl="0" algn="l">
              <a:spcBef>
                <a:spcPts val="0"/>
              </a:spcBef>
              <a:spcAft>
                <a:spcPts val="0"/>
              </a:spcAft>
              <a:buSzPct val="100000"/>
              <a:buChar char="-"/>
            </a:pPr>
            <a:r>
              <a:rPr b="1" lang="fr"/>
              <a:t>Spécifique</a:t>
            </a:r>
            <a:r>
              <a:rPr lang="fr"/>
              <a:t> : un consentement doit correspondre à un seul traitement, pour une finalité déterminée</a:t>
            </a:r>
            <a:endParaRPr/>
          </a:p>
          <a:p>
            <a:pPr indent="-325755" lvl="0" marL="457200" rtl="0" algn="l">
              <a:spcBef>
                <a:spcPts val="0"/>
              </a:spcBef>
              <a:spcAft>
                <a:spcPts val="0"/>
              </a:spcAft>
              <a:buSzPct val="100000"/>
              <a:buChar char="-"/>
            </a:pPr>
            <a:r>
              <a:rPr b="1" lang="fr"/>
              <a:t>Éclairé</a:t>
            </a:r>
            <a:r>
              <a:rPr lang="fr"/>
              <a:t> : la personne doit avoir été informée correctement avant de donner son accord (identité du responsable de traitement, finalités du traitement, données collectées, droit de retrait du consentement, etc.)</a:t>
            </a:r>
            <a:endParaRPr/>
          </a:p>
          <a:p>
            <a:pPr indent="-325755" lvl="0" marL="457200" rtl="0" algn="l">
              <a:spcBef>
                <a:spcPts val="0"/>
              </a:spcBef>
              <a:spcAft>
                <a:spcPts val="0"/>
              </a:spcAft>
              <a:buSzPct val="100000"/>
              <a:buChar char="-"/>
            </a:pPr>
            <a:r>
              <a:rPr b="1" lang="fr"/>
              <a:t>Univoque</a:t>
            </a:r>
            <a:r>
              <a:rPr lang="fr"/>
              <a:t> : le consentement doit être donné sans ambiguïté par une déclaration ou un acte positif clair (les cases pré-cochées ou pré-activées ne sont pas univoques, car elles résultent d’une inaction de la personne concernée)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consentement</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fr"/>
              <a:t>Droit au retrait :</a:t>
            </a:r>
            <a:r>
              <a:rPr lang="fr"/>
              <a:t> la personne doit avoir la possibilité de retirer son consentement à tout moment simplement.</a:t>
            </a:r>
            <a:endParaRPr/>
          </a:p>
          <a:p>
            <a:pPr indent="0" lvl="0" marL="0" rtl="0" algn="l">
              <a:spcBef>
                <a:spcPts val="1200"/>
              </a:spcBef>
              <a:spcAft>
                <a:spcPts val="0"/>
              </a:spcAft>
              <a:buNone/>
            </a:pPr>
            <a:r>
              <a:rPr b="1" lang="fr"/>
              <a:t>Preuve du consentement :</a:t>
            </a:r>
            <a:r>
              <a:rPr lang="fr"/>
              <a:t> le responsable du traitement doit être en mesure de démontrer à tout moment que la personne a bien consenti, dans des conditions valides.</a:t>
            </a:r>
            <a:endParaRPr/>
          </a:p>
          <a:p>
            <a:pPr indent="0" lvl="0" marL="0" rtl="0" algn="l">
              <a:spcBef>
                <a:spcPts val="1200"/>
              </a:spcBef>
              <a:spcAft>
                <a:spcPts val="0"/>
              </a:spcAft>
              <a:buClr>
                <a:schemeClr val="dk1"/>
              </a:buClr>
              <a:buSzPts val="1100"/>
              <a:buFont typeface="Arial"/>
              <a:buNone/>
            </a:pPr>
            <a:r>
              <a:rPr b="1" lang="fr"/>
              <a:t>Le consentement des mineurs :</a:t>
            </a:r>
            <a:r>
              <a:rPr lang="fr"/>
              <a:t> en France, en-dessous de 15 ans, la loi « Informatique et Libertés » impose le recueil du consentement conjoint de l’enfant et du titulaire de l’autorité parentale.</a:t>
            </a:r>
            <a:endParaRPr/>
          </a:p>
          <a:p>
            <a:pPr indent="0" lvl="0" marL="0" rtl="0" algn="r">
              <a:spcBef>
                <a:spcPts val="1200"/>
              </a:spcBef>
              <a:spcAft>
                <a:spcPts val="1200"/>
              </a:spcAft>
              <a:buNone/>
            </a:pPr>
            <a:r>
              <a:rPr lang="fr"/>
              <a:t>Source : CNIL.fr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contrat</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On peut se baser sur cette base légale l</a:t>
            </a:r>
            <a:r>
              <a:rPr lang="fr"/>
              <a:t>orsque </a:t>
            </a:r>
            <a:r>
              <a:rPr b="1" lang="fr">
                <a:solidFill>
                  <a:srgbClr val="9900FF"/>
                </a:solidFill>
              </a:rPr>
              <a:t>le traitement est nécessaire à l’exécution d’un contrat auquel la personne concernée est partie ou à l’exécution de mesures précontractuelles prises à la demande de celui-ci</a:t>
            </a:r>
            <a:r>
              <a:rPr lang="fr"/>
              <a:t> (exemple : livraison, devis…).</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90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a:t>
            </a:r>
            <a:r>
              <a:rPr lang="fr"/>
              <a:t>obligation légale</a:t>
            </a:r>
            <a:endParaRPr/>
          </a:p>
        </p:txBody>
      </p:sp>
      <p:sp>
        <p:nvSpPr>
          <p:cNvPr id="110" name="Google Shape;110;p22"/>
          <p:cNvSpPr txBox="1"/>
          <p:nvPr>
            <p:ph idx="1" type="body"/>
          </p:nvPr>
        </p:nvSpPr>
        <p:spPr>
          <a:xfrm>
            <a:off x="311700" y="1165896"/>
            <a:ext cx="8520600" cy="306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rgbClr val="9900FF"/>
                </a:solidFill>
              </a:rPr>
              <a:t>Le traitement est nécessaire au respect d’une obligation légale à laquelle le responsable de traitement est soumis.</a:t>
            </a:r>
            <a:r>
              <a:rPr lang="fr"/>
              <a:t> Cette obligation doit être un texte du droit de l’EU ou du droit d’un état membre.</a:t>
            </a:r>
            <a:endParaRPr/>
          </a:p>
          <a:p>
            <a:pPr indent="0" lvl="0" marL="0" rtl="0" algn="l">
              <a:spcBef>
                <a:spcPts val="1200"/>
              </a:spcBef>
              <a:spcAft>
                <a:spcPts val="0"/>
              </a:spcAft>
              <a:buNone/>
            </a:pPr>
            <a:r>
              <a:rPr lang="fr"/>
              <a:t>Elle peut concerner des traitements mis en œuvre par des organismes privés comme par des organismes publics.</a:t>
            </a:r>
            <a:endParaRPr/>
          </a:p>
          <a:p>
            <a:pPr indent="0" lvl="0" marL="0" rtl="0" algn="l">
              <a:spcBef>
                <a:spcPts val="1200"/>
              </a:spcBef>
              <a:spcAft>
                <a:spcPts val="1200"/>
              </a:spcAft>
              <a:buNone/>
            </a:pPr>
            <a:r>
              <a:rPr lang="fr"/>
              <a:t>Par exemple, lors de son embauche un salarié doit fournir son numéro de sécurité sociale.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906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La sauvegarde des intérêts vitaux</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16" name="Google Shape;116;p23"/>
          <p:cNvSpPr txBox="1"/>
          <p:nvPr>
            <p:ph idx="1" type="body"/>
          </p:nvPr>
        </p:nvSpPr>
        <p:spPr>
          <a:xfrm>
            <a:off x="311700" y="1196945"/>
            <a:ext cx="8520600" cy="306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rgbClr val="9900FF"/>
                </a:solidFill>
              </a:rPr>
              <a:t>Le traitement est nécessaire à la sauvegarde des intérêts vitaux de la personne concernée ou d’une autre personne physique. </a:t>
            </a:r>
            <a:endParaRPr b="1">
              <a:solidFill>
                <a:srgbClr val="9900FF"/>
              </a:solidFill>
            </a:endParaRPr>
          </a:p>
          <a:p>
            <a:pPr indent="0" lvl="0" marL="0" rtl="0" algn="l">
              <a:spcBef>
                <a:spcPts val="1200"/>
              </a:spcBef>
              <a:spcAft>
                <a:spcPts val="0"/>
              </a:spcAft>
              <a:buNone/>
            </a:pPr>
            <a:r>
              <a:rPr lang="fr"/>
              <a:t>Ce fondement ne peut être utilisé que lorsqu’il est impossible de recourir à un autre fondement.</a:t>
            </a:r>
            <a:endParaRPr/>
          </a:p>
          <a:p>
            <a:pPr indent="0" lvl="0" marL="0" rtl="0" algn="l">
              <a:spcBef>
                <a:spcPts val="1200"/>
              </a:spcBef>
              <a:spcAft>
                <a:spcPts val="0"/>
              </a:spcAft>
              <a:buNone/>
            </a:pPr>
            <a:r>
              <a:rPr lang="fr"/>
              <a:t>Exemples : menace pour la vie de la personne, incapacité physique d’exprimer son consentement, gestion des problématiques humanitaires, etc.</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L’intérêt </a:t>
            </a:r>
            <a:r>
              <a:rPr lang="fr"/>
              <a:t>public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2" name="Google Shape;122;p24"/>
          <p:cNvSpPr txBox="1"/>
          <p:nvPr>
            <p:ph idx="1" type="body"/>
          </p:nvPr>
        </p:nvSpPr>
        <p:spPr>
          <a:xfrm>
            <a:off x="311700" y="1198200"/>
            <a:ext cx="8520600" cy="274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rgbClr val="9900FF"/>
                </a:solidFill>
              </a:rPr>
              <a:t>Le traitement est nécessaire à l’exécution d’une mission d’intérêt public ou relevant de l’exercice de l’autorité publique.</a:t>
            </a:r>
            <a:endParaRPr b="1">
              <a:solidFill>
                <a:srgbClr val="9900FF"/>
              </a:solidFill>
            </a:endParaRPr>
          </a:p>
          <a:p>
            <a:pPr indent="0" lvl="0" marL="0" rtl="0" algn="l">
              <a:spcBef>
                <a:spcPts val="1200"/>
              </a:spcBef>
              <a:spcAft>
                <a:spcPts val="0"/>
              </a:spcAft>
              <a:buNone/>
            </a:pPr>
            <a:r>
              <a:rPr lang="fr"/>
              <a:t>Exemples : gestion des inscriptions scolaires, délivrance de subventions dans les domaines sportif et culturel, communications dans des contextes de crise, etc.</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9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L’intérêt légitime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8" name="Google Shape;128;p25"/>
          <p:cNvSpPr txBox="1"/>
          <p:nvPr>
            <p:ph idx="1" type="body"/>
          </p:nvPr>
        </p:nvSpPr>
        <p:spPr>
          <a:xfrm>
            <a:off x="311700" y="1192556"/>
            <a:ext cx="8520600" cy="3143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fr">
                <a:solidFill>
                  <a:srgbClr val="9900FF"/>
                </a:solidFill>
              </a:rPr>
              <a:t>Concerne l</a:t>
            </a:r>
            <a:r>
              <a:rPr b="1" lang="fr">
                <a:solidFill>
                  <a:srgbClr val="9900FF"/>
                </a:solidFill>
              </a:rPr>
              <a:t>a poursuite d’intérêts légitimes par le responsable de traitement. Le traitement doit reposer sur un équilibre entre les intérêts du responsable de traitement, droits de la personne et ses intérêts.</a:t>
            </a:r>
            <a:endParaRPr b="1">
              <a:solidFill>
                <a:srgbClr val="9900FF"/>
              </a:solidFill>
            </a:endParaRPr>
          </a:p>
          <a:p>
            <a:pPr indent="0" lvl="0" marL="0" rtl="0" algn="l">
              <a:spcBef>
                <a:spcPts val="1200"/>
              </a:spcBef>
              <a:spcAft>
                <a:spcPts val="0"/>
              </a:spcAft>
              <a:buNone/>
            </a:pPr>
            <a:r>
              <a:rPr b="1" lang="fr"/>
              <a:t>Cette base légale ne peut pas être invoquée par les organismes publics dans le cadre de leur mission.</a:t>
            </a:r>
            <a:endParaRPr b="1"/>
          </a:p>
          <a:p>
            <a:pPr indent="0" lvl="0" marL="0" rtl="0" algn="l">
              <a:spcBef>
                <a:spcPts val="1200"/>
              </a:spcBef>
              <a:spcAft>
                <a:spcPts val="0"/>
              </a:spcAft>
              <a:buNone/>
            </a:pPr>
            <a:r>
              <a:rPr lang="fr"/>
              <a:t>Le</a:t>
            </a:r>
            <a:r>
              <a:rPr lang="fr"/>
              <a:t> traitement doit être nécessaire pour atteindre un objectif précis. En ce sens, c’est la base légale la moins intrusive.</a:t>
            </a:r>
            <a:endParaRPr/>
          </a:p>
          <a:p>
            <a:pPr indent="0" lvl="0" marL="0" rtl="0" algn="l">
              <a:spcBef>
                <a:spcPts val="1200"/>
              </a:spcBef>
              <a:spcAft>
                <a:spcPts val="1200"/>
              </a:spcAft>
              <a:buNone/>
            </a:pPr>
            <a:r>
              <a:rPr lang="fr"/>
              <a:t>Exemples : </a:t>
            </a:r>
            <a:r>
              <a:rPr lang="fr"/>
              <a:t>vidéosurveillance dans une entreprise, communication auprès des membres d’une association, etc.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6 bases légales</a:t>
            </a:r>
            <a:endParaRPr/>
          </a:p>
        </p:txBody>
      </p:sp>
      <p:sp>
        <p:nvSpPr>
          <p:cNvPr id="134" name="Google Shape;134;p26"/>
          <p:cNvSpPr txBox="1"/>
          <p:nvPr>
            <p:ph idx="1" type="body"/>
          </p:nvPr>
        </p:nvSpPr>
        <p:spPr>
          <a:xfrm>
            <a:off x="311700" y="4325325"/>
            <a:ext cx="8520600" cy="446400"/>
          </a:xfrm>
          <a:prstGeom prst="rect">
            <a:avLst/>
          </a:prstGeom>
        </p:spPr>
        <p:txBody>
          <a:bodyPr anchorCtr="0" anchor="t" bIns="91425" lIns="91425" spcFirstLastPara="1" rIns="91425" wrap="square" tIns="91425">
            <a:normAutofit/>
          </a:bodyPr>
          <a:lstStyle/>
          <a:p>
            <a:pPr indent="0" lvl="0" marL="0" rtl="0" algn="ctr">
              <a:lnSpc>
                <a:spcPct val="95000"/>
              </a:lnSpc>
              <a:spcBef>
                <a:spcPts val="0"/>
              </a:spcBef>
              <a:spcAft>
                <a:spcPts val="1200"/>
              </a:spcAft>
              <a:buNone/>
            </a:pPr>
            <a:r>
              <a:rPr lang="fr" sz="1400"/>
              <a:t>Source : CNIL.fr</a:t>
            </a:r>
            <a:endParaRPr sz="1400"/>
          </a:p>
        </p:txBody>
      </p:sp>
      <p:pic>
        <p:nvPicPr>
          <p:cNvPr id="135" name="Google Shape;135;p26"/>
          <p:cNvPicPr preferRelativeResize="0"/>
          <p:nvPr/>
        </p:nvPicPr>
        <p:blipFill>
          <a:blip r:embed="rId3">
            <a:alphaModFix/>
          </a:blip>
          <a:stretch>
            <a:fillRect/>
          </a:stretch>
        </p:blipFill>
        <p:spPr>
          <a:xfrm>
            <a:off x="1482080" y="1163150"/>
            <a:ext cx="6179833" cy="3169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141" name="Google Shape;14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SzPts val="1800"/>
              <a:buAutoNum type="arabicPeriod"/>
            </a:pPr>
            <a:r>
              <a:rPr lang="fr"/>
              <a:t>Base légale du traitement</a:t>
            </a:r>
            <a:endParaRPr/>
          </a:p>
          <a:p>
            <a:pPr indent="-342900" lvl="0" marL="914400" rtl="0" algn="l">
              <a:spcBef>
                <a:spcPts val="0"/>
              </a:spcBef>
              <a:spcAft>
                <a:spcPts val="0"/>
              </a:spcAft>
              <a:buClr>
                <a:srgbClr val="9900FF"/>
              </a:buClr>
              <a:buSzPts val="1800"/>
              <a:buAutoNum type="arabicPeriod"/>
            </a:pPr>
            <a:r>
              <a:rPr lang="fr">
                <a:solidFill>
                  <a:srgbClr val="9900FF"/>
                </a:solidFill>
              </a:rPr>
              <a:t>Finalité du traitement</a:t>
            </a:r>
            <a:endParaRPr>
              <a:solidFill>
                <a:srgbClr val="9900FF"/>
              </a:solidFill>
            </a:endParaRPr>
          </a:p>
          <a:p>
            <a:pPr indent="-342900" lvl="0" marL="914400" rtl="0" algn="l">
              <a:spcBef>
                <a:spcPts val="0"/>
              </a:spcBef>
              <a:spcAft>
                <a:spcPts val="0"/>
              </a:spcAft>
              <a:buSzPts val="1800"/>
              <a:buAutoNum type="arabicPeriod"/>
            </a:pPr>
            <a:r>
              <a:rPr lang="fr"/>
              <a:t>Minimisation des données</a:t>
            </a:r>
            <a:endParaRPr/>
          </a:p>
          <a:p>
            <a:pPr indent="-342900" lvl="0" marL="914400" rtl="0" algn="l">
              <a:spcBef>
                <a:spcPts val="0"/>
              </a:spcBef>
              <a:spcAft>
                <a:spcPts val="0"/>
              </a:spcAft>
              <a:buSzPts val="1800"/>
              <a:buAutoNum type="arabicPeriod"/>
            </a:pPr>
            <a:r>
              <a:rPr lang="fr"/>
              <a:t>Protection des données sensibles</a:t>
            </a:r>
            <a:endParaRPr/>
          </a:p>
          <a:p>
            <a:pPr indent="-342900" lvl="0" marL="914400" rtl="0" algn="l">
              <a:spcBef>
                <a:spcPts val="0"/>
              </a:spcBef>
              <a:spcAft>
                <a:spcPts val="0"/>
              </a:spcAft>
              <a:buSzPts val="1800"/>
              <a:buAutoNum type="arabicPeriod"/>
            </a:pPr>
            <a:r>
              <a:rPr lang="fr"/>
              <a:t>Durée de conservation </a:t>
            </a:r>
            <a:endParaRPr/>
          </a:p>
          <a:p>
            <a:pPr indent="-342900" lvl="0" marL="914400" rtl="0" algn="l">
              <a:spcBef>
                <a:spcPts val="0"/>
              </a:spcBef>
              <a:spcAft>
                <a:spcPts val="0"/>
              </a:spcAft>
              <a:buSzPts val="1800"/>
              <a:buAutoNum type="arabicPeriod"/>
            </a:pPr>
            <a:r>
              <a:rPr lang="fr"/>
              <a:t>Sécurité</a:t>
            </a:r>
            <a:endParaRPr/>
          </a:p>
          <a:p>
            <a:pPr indent="-342900" lvl="0" marL="914400" rtl="0" algn="l">
              <a:spcBef>
                <a:spcPts val="0"/>
              </a:spcBef>
              <a:spcAft>
                <a:spcPts val="0"/>
              </a:spcAft>
              <a:buSzPts val="1800"/>
              <a:buAutoNum type="arabicPeriod"/>
            </a:pPr>
            <a:r>
              <a:rPr lang="fr"/>
              <a:t>Transparence à l’égard des personnes</a:t>
            </a:r>
            <a:endParaRPr/>
          </a:p>
          <a:p>
            <a:pPr indent="-342900" lvl="0" marL="914400" rtl="0" algn="l">
              <a:spcBef>
                <a:spcPts val="0"/>
              </a:spcBef>
              <a:spcAft>
                <a:spcPts val="0"/>
              </a:spcAft>
              <a:buSzPts val="1800"/>
              <a:buAutoNum type="arabicPeriod"/>
            </a:pPr>
            <a:r>
              <a:rPr lang="fr"/>
              <a:t>Droits des personnes</a:t>
            </a:r>
            <a:endParaRPr/>
          </a:p>
          <a:p>
            <a:pPr indent="-342900" lvl="0" marL="457200" rtl="0" algn="l">
              <a:spcBef>
                <a:spcPts val="0"/>
              </a:spcBef>
              <a:spcAft>
                <a:spcPts val="0"/>
              </a:spcAft>
              <a:buSzPts val="1800"/>
              <a:buAutoNum type="romanUcPeriod"/>
            </a:pPr>
            <a:r>
              <a:rPr lang="fr"/>
              <a:t>Transferts de données hors UE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2. Finalité du traitement</a:t>
            </a:r>
            <a:endParaRPr/>
          </a:p>
        </p:txBody>
      </p:sp>
      <p:sp>
        <p:nvSpPr>
          <p:cNvPr id="147" name="Google Shape;14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fr">
                <a:solidFill>
                  <a:srgbClr val="9900FF"/>
                </a:solidFill>
              </a:rPr>
              <a:t>La finalité du traitement est l’objectif principal de l’utilisation de données personnelles.</a:t>
            </a:r>
            <a:endParaRPr b="1">
              <a:solidFill>
                <a:srgbClr val="9900FF"/>
              </a:solidFill>
            </a:endParaRPr>
          </a:p>
          <a:p>
            <a:pPr indent="0" lvl="0" marL="0" rtl="0" algn="l">
              <a:spcBef>
                <a:spcPts val="1200"/>
              </a:spcBef>
              <a:spcAft>
                <a:spcPts val="0"/>
              </a:spcAft>
              <a:buClr>
                <a:schemeClr val="dk1"/>
              </a:buClr>
              <a:buSzPts val="1100"/>
              <a:buFont typeface="Arial"/>
              <a:buNone/>
            </a:pPr>
            <a:r>
              <a:rPr lang="fr"/>
              <a:t>Les données sont collectées pour un but bien déterminé et légitime et ne sont pas traitées ultérieurement de façon incompatible avec cet objectif initial.</a:t>
            </a:r>
            <a:endParaRPr/>
          </a:p>
          <a:p>
            <a:pPr indent="0" lvl="0" marL="0" rtl="0" algn="l">
              <a:spcBef>
                <a:spcPts val="1200"/>
              </a:spcBef>
              <a:spcAft>
                <a:spcPts val="0"/>
              </a:spcAft>
              <a:buNone/>
            </a:pPr>
            <a:r>
              <a:rPr lang="fr"/>
              <a:t>Exemples : gestion des recrutements, gestion des paies, gestion des clients, enquête de satisfaction, surveillance des locaux, campagne de communication, etc.</a:t>
            </a:r>
            <a:endParaRPr/>
          </a:p>
          <a:p>
            <a:pPr indent="0" lvl="0" marL="0" rtl="0" algn="r">
              <a:spcBef>
                <a:spcPts val="1200"/>
              </a:spcBef>
              <a:spcAft>
                <a:spcPts val="1200"/>
              </a:spcAft>
              <a:buNone/>
            </a:pPr>
            <a:r>
              <a:rPr lang="fr"/>
              <a:t>Source : CNIL.fr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153" name="Google Shape;15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SzPts val="1800"/>
              <a:buAutoNum type="arabicPeriod"/>
            </a:pPr>
            <a:r>
              <a:rPr lang="fr"/>
              <a:t>Base légale du traitement</a:t>
            </a:r>
            <a:endParaRPr/>
          </a:p>
          <a:p>
            <a:pPr indent="-342900" lvl="0" marL="914400" rtl="0" algn="l">
              <a:spcBef>
                <a:spcPts val="0"/>
              </a:spcBef>
              <a:spcAft>
                <a:spcPts val="0"/>
              </a:spcAft>
              <a:buSzPts val="1800"/>
              <a:buAutoNum type="arabicPeriod"/>
            </a:pPr>
            <a:r>
              <a:rPr lang="fr"/>
              <a:t>Finalité du traitement</a:t>
            </a:r>
            <a:endParaRPr/>
          </a:p>
          <a:p>
            <a:pPr indent="-342900" lvl="0" marL="914400" rtl="0" algn="l">
              <a:spcBef>
                <a:spcPts val="0"/>
              </a:spcBef>
              <a:spcAft>
                <a:spcPts val="0"/>
              </a:spcAft>
              <a:buClr>
                <a:srgbClr val="9900FF"/>
              </a:buClr>
              <a:buSzPts val="1800"/>
              <a:buAutoNum type="arabicPeriod"/>
            </a:pPr>
            <a:r>
              <a:rPr lang="fr">
                <a:solidFill>
                  <a:srgbClr val="9900FF"/>
                </a:solidFill>
              </a:rPr>
              <a:t>Minimisation des données</a:t>
            </a:r>
            <a:endParaRPr>
              <a:solidFill>
                <a:srgbClr val="9900FF"/>
              </a:solidFill>
            </a:endParaRPr>
          </a:p>
          <a:p>
            <a:pPr indent="-342900" lvl="0" marL="914400" rtl="0" algn="l">
              <a:spcBef>
                <a:spcPts val="0"/>
              </a:spcBef>
              <a:spcAft>
                <a:spcPts val="0"/>
              </a:spcAft>
              <a:buSzPts val="1800"/>
              <a:buAutoNum type="arabicPeriod"/>
            </a:pPr>
            <a:r>
              <a:rPr lang="fr"/>
              <a:t>Protection des données sensibles</a:t>
            </a:r>
            <a:endParaRPr/>
          </a:p>
          <a:p>
            <a:pPr indent="-342900" lvl="0" marL="914400" rtl="0" algn="l">
              <a:spcBef>
                <a:spcPts val="0"/>
              </a:spcBef>
              <a:spcAft>
                <a:spcPts val="0"/>
              </a:spcAft>
              <a:buSzPts val="1800"/>
              <a:buAutoNum type="arabicPeriod"/>
            </a:pPr>
            <a:r>
              <a:rPr lang="fr"/>
              <a:t>Durée de conservation </a:t>
            </a:r>
            <a:endParaRPr/>
          </a:p>
          <a:p>
            <a:pPr indent="-342900" lvl="0" marL="914400" rtl="0" algn="l">
              <a:spcBef>
                <a:spcPts val="0"/>
              </a:spcBef>
              <a:spcAft>
                <a:spcPts val="0"/>
              </a:spcAft>
              <a:buSzPts val="1800"/>
              <a:buAutoNum type="arabicPeriod"/>
            </a:pPr>
            <a:r>
              <a:rPr lang="fr"/>
              <a:t>Sécurité</a:t>
            </a:r>
            <a:endParaRPr/>
          </a:p>
          <a:p>
            <a:pPr indent="-342900" lvl="0" marL="914400" rtl="0" algn="l">
              <a:spcBef>
                <a:spcPts val="0"/>
              </a:spcBef>
              <a:spcAft>
                <a:spcPts val="0"/>
              </a:spcAft>
              <a:buSzPts val="1800"/>
              <a:buAutoNum type="arabicPeriod"/>
            </a:pPr>
            <a:r>
              <a:rPr lang="fr"/>
              <a:t>Transparence à l’égard des personnes</a:t>
            </a:r>
            <a:endParaRPr/>
          </a:p>
          <a:p>
            <a:pPr indent="-342900" lvl="0" marL="914400" rtl="0" algn="l">
              <a:spcBef>
                <a:spcPts val="0"/>
              </a:spcBef>
              <a:spcAft>
                <a:spcPts val="0"/>
              </a:spcAft>
              <a:buSzPts val="1800"/>
              <a:buAutoNum type="arabicPeriod"/>
            </a:pPr>
            <a:r>
              <a:rPr lang="fr"/>
              <a:t>Droits des personnes</a:t>
            </a:r>
            <a:endParaRPr/>
          </a:p>
          <a:p>
            <a:pPr indent="-342900" lvl="0" marL="457200" rtl="0" algn="l">
              <a:spcBef>
                <a:spcPts val="0"/>
              </a:spcBef>
              <a:spcAft>
                <a:spcPts val="0"/>
              </a:spcAft>
              <a:buSzPts val="1800"/>
              <a:buAutoNum type="romanUcPeriod"/>
            </a:pPr>
            <a:r>
              <a:rPr lang="fr"/>
              <a:t>Transferts de données hors UE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3. Minimisation des données</a:t>
            </a:r>
            <a:endParaRPr/>
          </a:p>
        </p:txBody>
      </p:sp>
      <p:sp>
        <p:nvSpPr>
          <p:cNvPr id="159" name="Google Shape;15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fr">
                <a:solidFill>
                  <a:srgbClr val="9900FF"/>
                </a:solidFill>
              </a:rPr>
              <a:t>Le principe de minimisation implique de ne collecter que les données strictement nécessaires pour répondre à l’objectif défini (la finalité).</a:t>
            </a:r>
            <a:endParaRPr b="1">
              <a:solidFill>
                <a:srgbClr val="9900FF"/>
              </a:solidFill>
            </a:endParaRPr>
          </a:p>
          <a:p>
            <a:pPr indent="0" lvl="0" marL="0" rtl="0" algn="l">
              <a:spcBef>
                <a:spcPts val="1200"/>
              </a:spcBef>
              <a:spcAft>
                <a:spcPts val="0"/>
              </a:spcAft>
              <a:buClr>
                <a:schemeClr val="dk1"/>
              </a:buClr>
              <a:buSzPts val="1100"/>
              <a:buFont typeface="Arial"/>
              <a:buNone/>
            </a:pPr>
            <a:r>
              <a:rPr lang="fr"/>
              <a:t>Exemple : pour envoyer une newsletter à un client, pas besoin de connaître son nom et son prénom.</a:t>
            </a:r>
            <a:endParaRPr/>
          </a:p>
          <a:p>
            <a:pPr indent="0" lvl="0" marL="0" rtl="0" algn="l">
              <a:spcBef>
                <a:spcPts val="1200"/>
              </a:spcBef>
              <a:spcAft>
                <a:spcPts val="0"/>
              </a:spcAft>
              <a:buClr>
                <a:schemeClr val="dk1"/>
              </a:buClr>
              <a:buSzPts val="1100"/>
              <a:buFont typeface="Arial"/>
              <a:buNone/>
            </a:pPr>
            <a:r>
              <a:rPr lang="fr"/>
              <a:t>Certaines données peuvent être jugées pertinentes mais ne sont pas forcément indispensables au traitement. D’autres données peuvent être collectées de manière facultative, tant que les personnes sont informées et donnent leur consentement.</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165" name="Google Shape;16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SzPts val="1800"/>
              <a:buAutoNum type="arabicPeriod"/>
            </a:pPr>
            <a:r>
              <a:rPr lang="fr"/>
              <a:t>Base légale du traitement</a:t>
            </a:r>
            <a:endParaRPr/>
          </a:p>
          <a:p>
            <a:pPr indent="-342900" lvl="0" marL="914400" rtl="0" algn="l">
              <a:spcBef>
                <a:spcPts val="0"/>
              </a:spcBef>
              <a:spcAft>
                <a:spcPts val="0"/>
              </a:spcAft>
              <a:buSzPts val="1800"/>
              <a:buAutoNum type="arabicPeriod"/>
            </a:pPr>
            <a:r>
              <a:rPr lang="fr"/>
              <a:t>Finalité du traitement</a:t>
            </a:r>
            <a:endParaRPr/>
          </a:p>
          <a:p>
            <a:pPr indent="-342900" lvl="0" marL="914400" rtl="0" algn="l">
              <a:spcBef>
                <a:spcPts val="0"/>
              </a:spcBef>
              <a:spcAft>
                <a:spcPts val="0"/>
              </a:spcAft>
              <a:buSzPts val="1800"/>
              <a:buAutoNum type="arabicPeriod"/>
            </a:pPr>
            <a:r>
              <a:rPr lang="fr"/>
              <a:t>Minimisation des données</a:t>
            </a:r>
            <a:endParaRPr/>
          </a:p>
          <a:p>
            <a:pPr indent="-342900" lvl="0" marL="914400" rtl="0" algn="l">
              <a:spcBef>
                <a:spcPts val="0"/>
              </a:spcBef>
              <a:spcAft>
                <a:spcPts val="0"/>
              </a:spcAft>
              <a:buClr>
                <a:srgbClr val="9900FF"/>
              </a:buClr>
              <a:buSzPts val="1800"/>
              <a:buAutoNum type="arabicPeriod"/>
            </a:pPr>
            <a:r>
              <a:rPr lang="fr">
                <a:solidFill>
                  <a:srgbClr val="9900FF"/>
                </a:solidFill>
              </a:rPr>
              <a:t>Protection des données sensibles</a:t>
            </a:r>
            <a:endParaRPr>
              <a:solidFill>
                <a:srgbClr val="9900FF"/>
              </a:solidFill>
            </a:endParaRPr>
          </a:p>
          <a:p>
            <a:pPr indent="-342900" lvl="0" marL="914400" rtl="0" algn="l">
              <a:spcBef>
                <a:spcPts val="0"/>
              </a:spcBef>
              <a:spcAft>
                <a:spcPts val="0"/>
              </a:spcAft>
              <a:buSzPts val="1800"/>
              <a:buAutoNum type="arabicPeriod"/>
            </a:pPr>
            <a:r>
              <a:rPr lang="fr"/>
              <a:t>Durée de conservation </a:t>
            </a:r>
            <a:endParaRPr/>
          </a:p>
          <a:p>
            <a:pPr indent="-342900" lvl="0" marL="914400" rtl="0" algn="l">
              <a:spcBef>
                <a:spcPts val="0"/>
              </a:spcBef>
              <a:spcAft>
                <a:spcPts val="0"/>
              </a:spcAft>
              <a:buSzPts val="1800"/>
              <a:buAutoNum type="arabicPeriod"/>
            </a:pPr>
            <a:r>
              <a:rPr lang="fr"/>
              <a:t>Sécurité</a:t>
            </a:r>
            <a:endParaRPr/>
          </a:p>
          <a:p>
            <a:pPr indent="-342900" lvl="0" marL="914400" rtl="0" algn="l">
              <a:spcBef>
                <a:spcPts val="0"/>
              </a:spcBef>
              <a:spcAft>
                <a:spcPts val="0"/>
              </a:spcAft>
              <a:buSzPts val="1800"/>
              <a:buAutoNum type="arabicPeriod"/>
            </a:pPr>
            <a:r>
              <a:rPr lang="fr"/>
              <a:t>Transparence à l’égard des personnes</a:t>
            </a:r>
            <a:endParaRPr/>
          </a:p>
          <a:p>
            <a:pPr indent="-342900" lvl="0" marL="914400" rtl="0" algn="l">
              <a:spcBef>
                <a:spcPts val="0"/>
              </a:spcBef>
              <a:spcAft>
                <a:spcPts val="0"/>
              </a:spcAft>
              <a:buSzPts val="1800"/>
              <a:buAutoNum type="arabicPeriod"/>
            </a:pPr>
            <a:r>
              <a:rPr lang="fr"/>
              <a:t>Droits des personnes</a:t>
            </a:r>
            <a:endParaRPr/>
          </a:p>
          <a:p>
            <a:pPr indent="-342900" lvl="0" marL="457200" rtl="0" algn="l">
              <a:spcBef>
                <a:spcPts val="0"/>
              </a:spcBef>
              <a:spcAft>
                <a:spcPts val="0"/>
              </a:spcAft>
              <a:buSzPts val="1800"/>
              <a:buAutoNum type="romanUcPeriod"/>
            </a:pPr>
            <a:r>
              <a:rPr lang="fr"/>
              <a:t>Transferts de données hors UE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 Protection des données sensibles</a:t>
            </a:r>
            <a:endParaRPr/>
          </a:p>
        </p:txBody>
      </p:sp>
      <p:sp>
        <p:nvSpPr>
          <p:cNvPr id="171" name="Google Shape;17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61111"/>
              <a:buFont typeface="Arial"/>
              <a:buNone/>
            </a:pPr>
            <a:r>
              <a:rPr b="1" lang="fr">
                <a:solidFill>
                  <a:srgbClr val="9900FF"/>
                </a:solidFill>
              </a:rPr>
              <a:t>On qualifie de sensibles les d</a:t>
            </a:r>
            <a:r>
              <a:rPr b="1" lang="fr">
                <a:solidFill>
                  <a:srgbClr val="9900FF"/>
                </a:solidFill>
              </a:rPr>
              <a:t>onnées touchant aux libertés et aux droits fondamentaux. Leur traitement ne peut se faire sans le respect d’un cadre juridique strict.</a:t>
            </a:r>
            <a:endParaRPr b="1">
              <a:solidFill>
                <a:srgbClr val="9900FF"/>
              </a:solidFill>
            </a:endParaRPr>
          </a:p>
          <a:p>
            <a:pPr indent="0" lvl="0" marL="0" rtl="0" algn="l">
              <a:spcBef>
                <a:spcPts val="1200"/>
              </a:spcBef>
              <a:spcAft>
                <a:spcPts val="0"/>
              </a:spcAft>
              <a:buNone/>
            </a:pPr>
            <a:r>
              <a:rPr lang="fr"/>
              <a:t>Les données à risque sont : </a:t>
            </a:r>
            <a:endParaRPr/>
          </a:p>
          <a:p>
            <a:pPr indent="-325755" lvl="0" marL="457200" rtl="0" algn="l">
              <a:spcBef>
                <a:spcPts val="1200"/>
              </a:spcBef>
              <a:spcAft>
                <a:spcPts val="0"/>
              </a:spcAft>
              <a:buSzPct val="100000"/>
              <a:buChar char="-"/>
            </a:pPr>
            <a:r>
              <a:rPr lang="fr"/>
              <a:t>Les données telles que les origines raciales ou ethniques, les opinions politiques, les convictions philosophiques ou religieuses, l’appartenance syndicale, la santé, l’orientation sexuelle, les données génétiques et biométriques</a:t>
            </a:r>
            <a:endParaRPr/>
          </a:p>
          <a:p>
            <a:pPr indent="-325755" lvl="0" marL="457200" rtl="0" algn="l">
              <a:spcBef>
                <a:spcPts val="0"/>
              </a:spcBef>
              <a:spcAft>
                <a:spcPts val="0"/>
              </a:spcAft>
              <a:buSzPct val="100000"/>
              <a:buChar char="-"/>
            </a:pPr>
            <a:r>
              <a:rPr lang="fr"/>
              <a:t>Le  n° de sécurité sociale</a:t>
            </a:r>
            <a:endParaRPr/>
          </a:p>
          <a:p>
            <a:pPr indent="-325755" lvl="0" marL="457200" rtl="0" algn="l">
              <a:spcBef>
                <a:spcPts val="0"/>
              </a:spcBef>
              <a:spcAft>
                <a:spcPts val="0"/>
              </a:spcAft>
              <a:buSzPct val="100000"/>
              <a:buChar char="-"/>
            </a:pPr>
            <a:r>
              <a:rPr lang="fr"/>
              <a:t>Les données relatives aux condamnations pénales, aux infractions et aux mesures de sûreté</a:t>
            </a:r>
            <a:endParaRPr/>
          </a:p>
          <a:p>
            <a:pPr indent="0" lvl="0" marL="0" rtl="0" algn="l">
              <a:spcBef>
                <a:spcPts val="1200"/>
              </a:spcBef>
              <a:spcAft>
                <a:spcPts val="1200"/>
              </a:spcAft>
              <a:buNone/>
            </a:pPr>
            <a:r>
              <a:rPr b="1" lang="fr"/>
              <a:t>Pour traiter des données sensibles, un responsable de traitement devra justifier de la base légale du traitement et de l’exception la plus pertinente pour le traitement.</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177" name="Google Shape;17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SzPts val="1800"/>
              <a:buAutoNum type="arabicPeriod"/>
            </a:pPr>
            <a:r>
              <a:rPr lang="fr"/>
              <a:t>Base légale du traitement</a:t>
            </a:r>
            <a:endParaRPr/>
          </a:p>
          <a:p>
            <a:pPr indent="-342900" lvl="0" marL="914400" rtl="0" algn="l">
              <a:spcBef>
                <a:spcPts val="0"/>
              </a:spcBef>
              <a:spcAft>
                <a:spcPts val="0"/>
              </a:spcAft>
              <a:buSzPts val="1800"/>
              <a:buAutoNum type="arabicPeriod"/>
            </a:pPr>
            <a:r>
              <a:rPr lang="fr"/>
              <a:t>Finalité du traitement</a:t>
            </a:r>
            <a:endParaRPr/>
          </a:p>
          <a:p>
            <a:pPr indent="-342900" lvl="0" marL="914400" rtl="0" algn="l">
              <a:spcBef>
                <a:spcPts val="0"/>
              </a:spcBef>
              <a:spcAft>
                <a:spcPts val="0"/>
              </a:spcAft>
              <a:buSzPts val="1800"/>
              <a:buAutoNum type="arabicPeriod"/>
            </a:pPr>
            <a:r>
              <a:rPr lang="fr"/>
              <a:t>Minimisation des données</a:t>
            </a:r>
            <a:endParaRPr/>
          </a:p>
          <a:p>
            <a:pPr indent="-342900" lvl="0" marL="914400" rtl="0" algn="l">
              <a:spcBef>
                <a:spcPts val="0"/>
              </a:spcBef>
              <a:spcAft>
                <a:spcPts val="0"/>
              </a:spcAft>
              <a:buSzPts val="1800"/>
              <a:buAutoNum type="arabicPeriod"/>
            </a:pPr>
            <a:r>
              <a:rPr lang="fr"/>
              <a:t>Protection des données sensibles</a:t>
            </a:r>
            <a:endParaRPr/>
          </a:p>
          <a:p>
            <a:pPr indent="-342900" lvl="0" marL="914400" rtl="0" algn="l">
              <a:spcBef>
                <a:spcPts val="0"/>
              </a:spcBef>
              <a:spcAft>
                <a:spcPts val="0"/>
              </a:spcAft>
              <a:buClr>
                <a:srgbClr val="9900FF"/>
              </a:buClr>
              <a:buSzPts val="1800"/>
              <a:buAutoNum type="arabicPeriod"/>
            </a:pPr>
            <a:r>
              <a:rPr lang="fr">
                <a:solidFill>
                  <a:srgbClr val="9900FF"/>
                </a:solidFill>
              </a:rPr>
              <a:t>Durée de conservation </a:t>
            </a:r>
            <a:endParaRPr>
              <a:solidFill>
                <a:srgbClr val="9900FF"/>
              </a:solidFill>
            </a:endParaRPr>
          </a:p>
          <a:p>
            <a:pPr indent="-342900" lvl="0" marL="914400" rtl="0" algn="l">
              <a:spcBef>
                <a:spcPts val="0"/>
              </a:spcBef>
              <a:spcAft>
                <a:spcPts val="0"/>
              </a:spcAft>
              <a:buSzPts val="1800"/>
              <a:buAutoNum type="arabicPeriod"/>
            </a:pPr>
            <a:r>
              <a:rPr lang="fr"/>
              <a:t>Sécurité</a:t>
            </a:r>
            <a:endParaRPr/>
          </a:p>
          <a:p>
            <a:pPr indent="-342900" lvl="0" marL="914400" rtl="0" algn="l">
              <a:spcBef>
                <a:spcPts val="0"/>
              </a:spcBef>
              <a:spcAft>
                <a:spcPts val="0"/>
              </a:spcAft>
              <a:buSzPts val="1800"/>
              <a:buAutoNum type="arabicPeriod"/>
            </a:pPr>
            <a:r>
              <a:rPr lang="fr"/>
              <a:t>Transparence à l’égard des personnes</a:t>
            </a:r>
            <a:endParaRPr/>
          </a:p>
          <a:p>
            <a:pPr indent="-342900" lvl="0" marL="914400" rtl="0" algn="l">
              <a:spcBef>
                <a:spcPts val="0"/>
              </a:spcBef>
              <a:spcAft>
                <a:spcPts val="0"/>
              </a:spcAft>
              <a:buSzPts val="1800"/>
              <a:buAutoNum type="arabicPeriod"/>
            </a:pPr>
            <a:r>
              <a:rPr lang="fr"/>
              <a:t>Droits des personnes</a:t>
            </a:r>
            <a:endParaRPr/>
          </a:p>
          <a:p>
            <a:pPr indent="-342900" lvl="0" marL="457200" rtl="0" algn="l">
              <a:spcBef>
                <a:spcPts val="0"/>
              </a:spcBef>
              <a:spcAft>
                <a:spcPts val="0"/>
              </a:spcAft>
              <a:buSzPts val="1800"/>
              <a:buAutoNum type="romanUcPeriod"/>
            </a:pPr>
            <a:r>
              <a:rPr lang="fr"/>
              <a:t>Transferts de données hors UE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5. Durée de conservation</a:t>
            </a:r>
            <a:endParaRPr/>
          </a:p>
        </p:txBody>
      </p:sp>
      <p:sp>
        <p:nvSpPr>
          <p:cNvPr id="183" name="Google Shape;18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fr">
                <a:solidFill>
                  <a:srgbClr val="9900FF"/>
                </a:solidFill>
              </a:rPr>
              <a:t>La conservation des données ne doit pas excéder le temps nécessaire à la satisfaction des objectifs poursuivis par leur collecte, ainsi qu’au respect d’éventuelles obligations légales ou d’impératifs particuliers.</a:t>
            </a:r>
            <a:endParaRPr b="1">
              <a:solidFill>
                <a:srgbClr val="9900FF"/>
              </a:solidFill>
            </a:endParaRPr>
          </a:p>
          <a:p>
            <a:pPr indent="0" lvl="0" marL="0" rtl="0" algn="l">
              <a:spcBef>
                <a:spcPts val="1200"/>
              </a:spcBef>
              <a:spcAft>
                <a:spcPts val="0"/>
              </a:spcAft>
              <a:buClr>
                <a:schemeClr val="dk1"/>
              </a:buClr>
              <a:buSzPct val="61111"/>
              <a:buFont typeface="Arial"/>
              <a:buNone/>
            </a:pPr>
            <a:r>
              <a:rPr lang="fr"/>
              <a:t>Le responsable de traitement doit ainsi déterminer une durée fixe de conservation ou un critère objectif pour déterminer cette durée (exemple : le temps de la relation contractuelle).</a:t>
            </a:r>
            <a:endParaRPr/>
          </a:p>
          <a:p>
            <a:pPr indent="0" lvl="0" marL="0" rtl="0" algn="l">
              <a:spcBef>
                <a:spcPts val="1200"/>
              </a:spcBef>
              <a:spcAft>
                <a:spcPts val="0"/>
              </a:spcAft>
              <a:buNone/>
            </a:pPr>
            <a:r>
              <a:rPr lang="fr"/>
              <a:t>Lorsque l’organisme a satisfait l’objectif poursuivi par la collecte des données, ces données doivent :</a:t>
            </a:r>
            <a:endParaRPr/>
          </a:p>
          <a:p>
            <a:pPr indent="-334327" lvl="0" marL="457200" rtl="0" algn="l">
              <a:spcBef>
                <a:spcPts val="1200"/>
              </a:spcBef>
              <a:spcAft>
                <a:spcPts val="0"/>
              </a:spcAft>
              <a:buSzPct val="100000"/>
              <a:buChar char="-"/>
            </a:pPr>
            <a:r>
              <a:rPr lang="fr"/>
              <a:t>être effacées</a:t>
            </a:r>
            <a:endParaRPr/>
          </a:p>
          <a:p>
            <a:pPr indent="-334327" lvl="0" marL="457200" rtl="0" algn="l">
              <a:spcBef>
                <a:spcPts val="0"/>
              </a:spcBef>
              <a:spcAft>
                <a:spcPts val="0"/>
              </a:spcAft>
              <a:buSzPct val="100000"/>
              <a:buChar char="-"/>
            </a:pPr>
            <a:r>
              <a:rPr lang="fr"/>
              <a:t>être anonymisées</a:t>
            </a:r>
            <a:endParaRPr/>
          </a:p>
          <a:p>
            <a:pPr indent="-334327" lvl="0" marL="457200" rtl="0" algn="l">
              <a:spcBef>
                <a:spcPts val="0"/>
              </a:spcBef>
              <a:spcAft>
                <a:spcPts val="0"/>
              </a:spcAft>
              <a:buSzPct val="100000"/>
              <a:buChar char="-"/>
            </a:pPr>
            <a:r>
              <a:rPr lang="fr"/>
              <a:t>être archivées sous certaines conditions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189" name="Google Shape;18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SzPts val="1800"/>
              <a:buAutoNum type="arabicPeriod"/>
            </a:pPr>
            <a:r>
              <a:rPr lang="fr"/>
              <a:t>Base légale du traitement</a:t>
            </a:r>
            <a:endParaRPr/>
          </a:p>
          <a:p>
            <a:pPr indent="-342900" lvl="0" marL="914400" rtl="0" algn="l">
              <a:spcBef>
                <a:spcPts val="0"/>
              </a:spcBef>
              <a:spcAft>
                <a:spcPts val="0"/>
              </a:spcAft>
              <a:buSzPts val="1800"/>
              <a:buAutoNum type="arabicPeriod"/>
            </a:pPr>
            <a:r>
              <a:rPr lang="fr"/>
              <a:t>Finalité du traitement</a:t>
            </a:r>
            <a:endParaRPr/>
          </a:p>
          <a:p>
            <a:pPr indent="-342900" lvl="0" marL="914400" rtl="0" algn="l">
              <a:spcBef>
                <a:spcPts val="0"/>
              </a:spcBef>
              <a:spcAft>
                <a:spcPts val="0"/>
              </a:spcAft>
              <a:buSzPts val="1800"/>
              <a:buAutoNum type="arabicPeriod"/>
            </a:pPr>
            <a:r>
              <a:rPr lang="fr"/>
              <a:t>Minimisation des données</a:t>
            </a:r>
            <a:endParaRPr/>
          </a:p>
          <a:p>
            <a:pPr indent="-342900" lvl="0" marL="914400" rtl="0" algn="l">
              <a:spcBef>
                <a:spcPts val="0"/>
              </a:spcBef>
              <a:spcAft>
                <a:spcPts val="0"/>
              </a:spcAft>
              <a:buSzPts val="1800"/>
              <a:buAutoNum type="arabicPeriod"/>
            </a:pPr>
            <a:r>
              <a:rPr lang="fr"/>
              <a:t>Protection des données sensibles</a:t>
            </a:r>
            <a:endParaRPr/>
          </a:p>
          <a:p>
            <a:pPr indent="-342900" lvl="0" marL="914400" rtl="0" algn="l">
              <a:spcBef>
                <a:spcPts val="0"/>
              </a:spcBef>
              <a:spcAft>
                <a:spcPts val="0"/>
              </a:spcAft>
              <a:buSzPts val="1800"/>
              <a:buAutoNum type="arabicPeriod"/>
            </a:pPr>
            <a:r>
              <a:rPr lang="fr"/>
              <a:t>Durée de conservation </a:t>
            </a:r>
            <a:endParaRPr/>
          </a:p>
          <a:p>
            <a:pPr indent="-342900" lvl="0" marL="914400" rtl="0" algn="l">
              <a:spcBef>
                <a:spcPts val="0"/>
              </a:spcBef>
              <a:spcAft>
                <a:spcPts val="0"/>
              </a:spcAft>
              <a:buClr>
                <a:srgbClr val="9900FF"/>
              </a:buClr>
              <a:buSzPts val="1800"/>
              <a:buAutoNum type="arabicPeriod"/>
            </a:pPr>
            <a:r>
              <a:rPr lang="fr">
                <a:solidFill>
                  <a:srgbClr val="9900FF"/>
                </a:solidFill>
              </a:rPr>
              <a:t>Sécurité</a:t>
            </a:r>
            <a:endParaRPr>
              <a:solidFill>
                <a:srgbClr val="9900FF"/>
              </a:solidFill>
            </a:endParaRPr>
          </a:p>
          <a:p>
            <a:pPr indent="-342900" lvl="0" marL="914400" rtl="0" algn="l">
              <a:spcBef>
                <a:spcPts val="0"/>
              </a:spcBef>
              <a:spcAft>
                <a:spcPts val="0"/>
              </a:spcAft>
              <a:buSzPts val="1800"/>
              <a:buAutoNum type="arabicPeriod"/>
            </a:pPr>
            <a:r>
              <a:rPr lang="fr"/>
              <a:t>Transparence à l’égard des personnes</a:t>
            </a:r>
            <a:endParaRPr/>
          </a:p>
          <a:p>
            <a:pPr indent="-342900" lvl="0" marL="914400" rtl="0" algn="l">
              <a:spcBef>
                <a:spcPts val="0"/>
              </a:spcBef>
              <a:spcAft>
                <a:spcPts val="0"/>
              </a:spcAft>
              <a:buSzPts val="1800"/>
              <a:buAutoNum type="arabicPeriod"/>
            </a:pPr>
            <a:r>
              <a:rPr lang="fr"/>
              <a:t>Droits des personnes</a:t>
            </a:r>
            <a:endParaRPr/>
          </a:p>
          <a:p>
            <a:pPr indent="-342900" lvl="0" marL="457200" rtl="0" algn="l">
              <a:spcBef>
                <a:spcPts val="0"/>
              </a:spcBef>
              <a:spcAft>
                <a:spcPts val="0"/>
              </a:spcAft>
              <a:buSzPts val="1800"/>
              <a:buAutoNum type="romanUcPeriod"/>
            </a:pPr>
            <a:r>
              <a:rPr lang="fr"/>
              <a:t>Transferts de données hors UE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6. Sécurité</a:t>
            </a:r>
            <a:endParaRPr/>
          </a:p>
        </p:txBody>
      </p:sp>
      <p:sp>
        <p:nvSpPr>
          <p:cNvPr id="195" name="Google Shape;195;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fr"/>
              <a:t>Les 3 principes de la sécurité des données :</a:t>
            </a:r>
            <a:endParaRPr b="1"/>
          </a:p>
          <a:p>
            <a:pPr indent="-325755" lvl="0" marL="457200" rtl="0" algn="l">
              <a:spcBef>
                <a:spcPts val="1200"/>
              </a:spcBef>
              <a:spcAft>
                <a:spcPts val="0"/>
              </a:spcAft>
              <a:buSzPct val="100000"/>
              <a:buChar char="-"/>
            </a:pPr>
            <a:r>
              <a:rPr b="1" lang="fr"/>
              <a:t>Confidentialité</a:t>
            </a:r>
            <a:r>
              <a:rPr lang="fr"/>
              <a:t> : les données ne doivent être accessibles qu’aux personnes autorisées</a:t>
            </a:r>
            <a:endParaRPr/>
          </a:p>
          <a:p>
            <a:pPr indent="-325755" lvl="0" marL="457200" rtl="0" algn="l">
              <a:spcBef>
                <a:spcPts val="0"/>
              </a:spcBef>
              <a:spcAft>
                <a:spcPts val="0"/>
              </a:spcAft>
              <a:buSzPct val="100000"/>
              <a:buChar char="-"/>
            </a:pPr>
            <a:r>
              <a:rPr b="1" lang="fr"/>
              <a:t>Intégrité</a:t>
            </a:r>
            <a:r>
              <a:rPr lang="fr"/>
              <a:t> : les données ne doivent pas être altérées ou modifiées</a:t>
            </a:r>
            <a:endParaRPr/>
          </a:p>
          <a:p>
            <a:pPr indent="-325755" lvl="0" marL="457200" rtl="0" algn="l">
              <a:spcBef>
                <a:spcPts val="0"/>
              </a:spcBef>
              <a:spcAft>
                <a:spcPts val="0"/>
              </a:spcAft>
              <a:buSzPct val="100000"/>
              <a:buChar char="-"/>
            </a:pPr>
            <a:r>
              <a:rPr b="1" lang="fr"/>
              <a:t>Disponibilité</a:t>
            </a:r>
            <a:r>
              <a:rPr lang="fr"/>
              <a:t> : les données doivent être en permanence accessibles par les personnes autorisées</a:t>
            </a:r>
            <a:endParaRPr/>
          </a:p>
          <a:p>
            <a:pPr indent="0" lvl="0" marL="0" rtl="0" algn="l">
              <a:spcBef>
                <a:spcPts val="1200"/>
              </a:spcBef>
              <a:spcAft>
                <a:spcPts val="0"/>
              </a:spcAft>
              <a:buNone/>
            </a:pPr>
            <a:r>
              <a:rPr b="1" lang="fr"/>
              <a:t>Mesures de sécurité pouvant être mises en place :</a:t>
            </a:r>
            <a:endParaRPr b="1"/>
          </a:p>
          <a:p>
            <a:pPr indent="-325755" lvl="0" marL="457200" rtl="0" algn="l">
              <a:spcBef>
                <a:spcPts val="1200"/>
              </a:spcBef>
              <a:spcAft>
                <a:spcPts val="0"/>
              </a:spcAft>
              <a:buSzPct val="100000"/>
              <a:buChar char="-"/>
            </a:pPr>
            <a:r>
              <a:rPr b="1" lang="fr"/>
              <a:t>Mesures physiques ou matérielles</a:t>
            </a:r>
            <a:r>
              <a:rPr lang="fr"/>
              <a:t> (verrouillage des portes, protection contre les incendies, coupures de courant, etc)</a:t>
            </a:r>
            <a:endParaRPr/>
          </a:p>
          <a:p>
            <a:pPr indent="-325755" lvl="0" marL="457200" rtl="0" algn="l">
              <a:spcBef>
                <a:spcPts val="0"/>
              </a:spcBef>
              <a:spcAft>
                <a:spcPts val="0"/>
              </a:spcAft>
              <a:buSzPct val="100000"/>
              <a:buChar char="-"/>
            </a:pPr>
            <a:r>
              <a:rPr b="1" lang="fr"/>
              <a:t>Mesures logiques ou logicielles </a:t>
            </a:r>
            <a:r>
              <a:rPr lang="fr"/>
              <a:t>(antivirus, pare-feu, cryptage, politique de mot de passe, etc)</a:t>
            </a:r>
            <a:endParaRPr/>
          </a:p>
          <a:p>
            <a:pPr indent="-325755" lvl="0" marL="457200" rtl="0" algn="l">
              <a:spcBef>
                <a:spcPts val="0"/>
              </a:spcBef>
              <a:spcAft>
                <a:spcPts val="0"/>
              </a:spcAft>
              <a:buSzPct val="100000"/>
              <a:buChar char="-"/>
            </a:pPr>
            <a:r>
              <a:rPr b="1" lang="fr"/>
              <a:t>Mesures organisationnelles</a:t>
            </a:r>
            <a:r>
              <a:rPr lang="fr"/>
              <a:t> (politique de contrôle d’accès aux données, sensibilisation des utilisateurs sur les conditions de traitement des données, audits réguliers, etc)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201" name="Google Shape;201;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SzPts val="1800"/>
              <a:buAutoNum type="arabicPeriod"/>
            </a:pPr>
            <a:r>
              <a:rPr lang="fr"/>
              <a:t>Base légale du traitement</a:t>
            </a:r>
            <a:endParaRPr/>
          </a:p>
          <a:p>
            <a:pPr indent="-342900" lvl="0" marL="914400" rtl="0" algn="l">
              <a:spcBef>
                <a:spcPts val="0"/>
              </a:spcBef>
              <a:spcAft>
                <a:spcPts val="0"/>
              </a:spcAft>
              <a:buSzPts val="1800"/>
              <a:buAutoNum type="arabicPeriod"/>
            </a:pPr>
            <a:r>
              <a:rPr lang="fr"/>
              <a:t>Finalité du traitement</a:t>
            </a:r>
            <a:endParaRPr/>
          </a:p>
          <a:p>
            <a:pPr indent="-342900" lvl="0" marL="914400" rtl="0" algn="l">
              <a:spcBef>
                <a:spcPts val="0"/>
              </a:spcBef>
              <a:spcAft>
                <a:spcPts val="0"/>
              </a:spcAft>
              <a:buSzPts val="1800"/>
              <a:buAutoNum type="arabicPeriod"/>
            </a:pPr>
            <a:r>
              <a:rPr lang="fr"/>
              <a:t>Minimisation des données</a:t>
            </a:r>
            <a:endParaRPr/>
          </a:p>
          <a:p>
            <a:pPr indent="-342900" lvl="0" marL="914400" rtl="0" algn="l">
              <a:spcBef>
                <a:spcPts val="0"/>
              </a:spcBef>
              <a:spcAft>
                <a:spcPts val="0"/>
              </a:spcAft>
              <a:buSzPts val="1800"/>
              <a:buAutoNum type="arabicPeriod"/>
            </a:pPr>
            <a:r>
              <a:rPr lang="fr"/>
              <a:t>Protection des données sensibles</a:t>
            </a:r>
            <a:endParaRPr/>
          </a:p>
          <a:p>
            <a:pPr indent="-342900" lvl="0" marL="914400" rtl="0" algn="l">
              <a:spcBef>
                <a:spcPts val="0"/>
              </a:spcBef>
              <a:spcAft>
                <a:spcPts val="0"/>
              </a:spcAft>
              <a:buSzPts val="1800"/>
              <a:buAutoNum type="arabicPeriod"/>
            </a:pPr>
            <a:r>
              <a:rPr lang="fr"/>
              <a:t>Durée de conservation </a:t>
            </a:r>
            <a:endParaRPr/>
          </a:p>
          <a:p>
            <a:pPr indent="-342900" lvl="0" marL="914400" rtl="0" algn="l">
              <a:spcBef>
                <a:spcPts val="0"/>
              </a:spcBef>
              <a:spcAft>
                <a:spcPts val="0"/>
              </a:spcAft>
              <a:buSzPts val="1800"/>
              <a:buAutoNum type="arabicPeriod"/>
            </a:pPr>
            <a:r>
              <a:rPr lang="fr"/>
              <a:t>Sécurité</a:t>
            </a:r>
            <a:endParaRPr/>
          </a:p>
          <a:p>
            <a:pPr indent="-342900" lvl="0" marL="914400" rtl="0" algn="l">
              <a:spcBef>
                <a:spcPts val="0"/>
              </a:spcBef>
              <a:spcAft>
                <a:spcPts val="0"/>
              </a:spcAft>
              <a:buClr>
                <a:srgbClr val="9900FF"/>
              </a:buClr>
              <a:buSzPts val="1800"/>
              <a:buAutoNum type="arabicPeriod"/>
            </a:pPr>
            <a:r>
              <a:rPr lang="fr">
                <a:solidFill>
                  <a:srgbClr val="9900FF"/>
                </a:solidFill>
              </a:rPr>
              <a:t>Transparence à l’égard des personnes</a:t>
            </a:r>
            <a:endParaRPr>
              <a:solidFill>
                <a:srgbClr val="9900FF"/>
              </a:solidFill>
            </a:endParaRPr>
          </a:p>
          <a:p>
            <a:pPr indent="-342900" lvl="0" marL="914400" rtl="0" algn="l">
              <a:spcBef>
                <a:spcPts val="0"/>
              </a:spcBef>
              <a:spcAft>
                <a:spcPts val="0"/>
              </a:spcAft>
              <a:buSzPts val="1800"/>
              <a:buAutoNum type="arabicPeriod"/>
            </a:pPr>
            <a:r>
              <a:rPr lang="fr"/>
              <a:t>Droits des personnes</a:t>
            </a:r>
            <a:endParaRPr/>
          </a:p>
          <a:p>
            <a:pPr indent="-342900" lvl="0" marL="457200" rtl="0" algn="l">
              <a:spcBef>
                <a:spcPts val="0"/>
              </a:spcBef>
              <a:spcAft>
                <a:spcPts val="0"/>
              </a:spcAft>
              <a:buSzPts val="1800"/>
              <a:buAutoNum type="romanUcPeriod"/>
            </a:pPr>
            <a:r>
              <a:rPr lang="fr"/>
              <a:t>Transferts de données hors UE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7. Transparence à l’égard des personnes</a:t>
            </a:r>
            <a:endParaRPr/>
          </a:p>
        </p:txBody>
      </p:sp>
      <p:sp>
        <p:nvSpPr>
          <p:cNvPr id="207" name="Google Shape;207;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fr">
                <a:solidFill>
                  <a:srgbClr val="9900FF"/>
                </a:solidFill>
              </a:rPr>
              <a:t>Les responsables de traitement sont obligés de fournir, au stade de la collecte et/ou du traitement des données, un certain nombre d’informations aux personnes concernées.</a:t>
            </a:r>
            <a:endParaRPr b="1">
              <a:solidFill>
                <a:srgbClr val="9900FF"/>
              </a:solidFill>
            </a:endParaRPr>
          </a:p>
          <a:p>
            <a:pPr indent="0" lvl="0" marL="0" rtl="0" algn="l">
              <a:spcBef>
                <a:spcPts val="1200"/>
              </a:spcBef>
              <a:spcAft>
                <a:spcPts val="0"/>
              </a:spcAft>
              <a:buNone/>
            </a:pPr>
            <a:r>
              <a:rPr lang="fr"/>
              <a:t>Les personnes peuvent ainsi :</a:t>
            </a:r>
            <a:endParaRPr/>
          </a:p>
          <a:p>
            <a:pPr indent="-342900" lvl="0" marL="457200" rtl="0" algn="l">
              <a:spcBef>
                <a:spcPts val="1200"/>
              </a:spcBef>
              <a:spcAft>
                <a:spcPts val="0"/>
              </a:spcAft>
              <a:buSzPts val="1800"/>
              <a:buChar char="-"/>
            </a:pPr>
            <a:r>
              <a:rPr b="1" lang="fr"/>
              <a:t>Connaître ce qui justifie la collecte</a:t>
            </a:r>
            <a:endParaRPr b="1"/>
          </a:p>
          <a:p>
            <a:pPr indent="-342900" lvl="0" marL="457200" rtl="0" algn="l">
              <a:spcBef>
                <a:spcPts val="0"/>
              </a:spcBef>
              <a:spcAft>
                <a:spcPts val="0"/>
              </a:spcAft>
              <a:buSzPts val="1800"/>
              <a:buChar char="-"/>
            </a:pPr>
            <a:r>
              <a:rPr b="1" lang="fr"/>
              <a:t>Comprendre les conditions du traitement</a:t>
            </a:r>
            <a:endParaRPr b="1"/>
          </a:p>
          <a:p>
            <a:pPr indent="-342900" lvl="0" marL="457200" rtl="0" algn="l">
              <a:spcBef>
                <a:spcPts val="0"/>
              </a:spcBef>
              <a:spcAft>
                <a:spcPts val="0"/>
              </a:spcAft>
              <a:buSzPts val="1800"/>
              <a:buChar char="-"/>
            </a:pPr>
            <a:r>
              <a:rPr b="1" lang="fr"/>
              <a:t>Garder la maîtrise de leurs données</a:t>
            </a:r>
            <a:endParaRPr b="1"/>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7. Transparence à l’égard des personnes</a:t>
            </a:r>
            <a:endParaRPr/>
          </a:p>
        </p:txBody>
      </p:sp>
      <p:sp>
        <p:nvSpPr>
          <p:cNvPr id="213" name="Google Shape;213;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a:t>L’information aux personnes doit :</a:t>
            </a:r>
            <a:endParaRPr/>
          </a:p>
          <a:p>
            <a:pPr indent="-342900" lvl="0" marL="457200" rtl="0" algn="l">
              <a:spcBef>
                <a:spcPts val="1200"/>
              </a:spcBef>
              <a:spcAft>
                <a:spcPts val="0"/>
              </a:spcAft>
              <a:buSzPts val="1800"/>
              <a:buChar char="-"/>
            </a:pPr>
            <a:r>
              <a:rPr lang="fr"/>
              <a:t>être </a:t>
            </a:r>
            <a:r>
              <a:rPr b="1" lang="fr"/>
              <a:t>compréhensible</a:t>
            </a:r>
            <a:r>
              <a:rPr lang="fr"/>
              <a:t> (vocabulaire simple, phrases courtes, éviter les termes juridiques et abstraits)</a:t>
            </a:r>
            <a:endParaRPr/>
          </a:p>
          <a:p>
            <a:pPr indent="-342900" lvl="0" marL="457200" rtl="0" algn="l">
              <a:spcBef>
                <a:spcPts val="0"/>
              </a:spcBef>
              <a:spcAft>
                <a:spcPts val="0"/>
              </a:spcAft>
              <a:buSzPts val="1800"/>
              <a:buChar char="-"/>
            </a:pPr>
            <a:r>
              <a:rPr lang="fr"/>
              <a:t>être </a:t>
            </a:r>
            <a:r>
              <a:rPr b="1" lang="fr"/>
              <a:t>lisible</a:t>
            </a:r>
            <a:r>
              <a:rPr lang="fr"/>
              <a:t> (être concis, prioriser les éléments en mettant en avant les informations essentielles)</a:t>
            </a:r>
            <a:endParaRPr/>
          </a:p>
          <a:p>
            <a:pPr indent="-342900" lvl="0" marL="457200" rtl="0" algn="l">
              <a:spcBef>
                <a:spcPts val="0"/>
              </a:spcBef>
              <a:spcAft>
                <a:spcPts val="0"/>
              </a:spcAft>
              <a:buSzPts val="1800"/>
              <a:buChar char="-"/>
            </a:pPr>
            <a:r>
              <a:rPr lang="fr"/>
              <a:t>être </a:t>
            </a:r>
            <a:r>
              <a:rPr b="1" lang="fr"/>
              <a:t>accessible</a:t>
            </a:r>
            <a:r>
              <a:rPr lang="fr"/>
              <a:t> (les personnes ne doivent pas avoir à fouiller pour trouver l’information)</a:t>
            </a:r>
            <a:endParaRPr/>
          </a:p>
          <a:p>
            <a:pPr indent="-342900" lvl="0" marL="457200" rtl="0" algn="l">
              <a:spcBef>
                <a:spcPts val="0"/>
              </a:spcBef>
              <a:spcAft>
                <a:spcPts val="0"/>
              </a:spcAft>
              <a:buSzPts val="1800"/>
              <a:buChar char="-"/>
            </a:pPr>
            <a:r>
              <a:rPr b="1" lang="fr"/>
              <a:t>donner une vision globale</a:t>
            </a:r>
            <a:r>
              <a:rPr lang="fr"/>
              <a:t> sur le traitement des données (par exemple sur un site, un lien renvoyant vers la page de politique de protection des données ou un tableau de bord permettant de maîtriser l’utilisation de ses données)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219" name="Google Shape;219;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SzPts val="1800"/>
              <a:buAutoNum type="arabicPeriod"/>
            </a:pPr>
            <a:r>
              <a:rPr lang="fr"/>
              <a:t>Base légale du traitement</a:t>
            </a:r>
            <a:endParaRPr/>
          </a:p>
          <a:p>
            <a:pPr indent="-342900" lvl="0" marL="914400" rtl="0" algn="l">
              <a:spcBef>
                <a:spcPts val="0"/>
              </a:spcBef>
              <a:spcAft>
                <a:spcPts val="0"/>
              </a:spcAft>
              <a:buSzPts val="1800"/>
              <a:buAutoNum type="arabicPeriod"/>
            </a:pPr>
            <a:r>
              <a:rPr lang="fr"/>
              <a:t>Finalité du traitement</a:t>
            </a:r>
            <a:endParaRPr/>
          </a:p>
          <a:p>
            <a:pPr indent="-342900" lvl="0" marL="914400" rtl="0" algn="l">
              <a:spcBef>
                <a:spcPts val="0"/>
              </a:spcBef>
              <a:spcAft>
                <a:spcPts val="0"/>
              </a:spcAft>
              <a:buSzPts val="1800"/>
              <a:buAutoNum type="arabicPeriod"/>
            </a:pPr>
            <a:r>
              <a:rPr lang="fr"/>
              <a:t>Minimisation des données</a:t>
            </a:r>
            <a:endParaRPr/>
          </a:p>
          <a:p>
            <a:pPr indent="-342900" lvl="0" marL="914400" rtl="0" algn="l">
              <a:spcBef>
                <a:spcPts val="0"/>
              </a:spcBef>
              <a:spcAft>
                <a:spcPts val="0"/>
              </a:spcAft>
              <a:buSzPts val="1800"/>
              <a:buAutoNum type="arabicPeriod"/>
            </a:pPr>
            <a:r>
              <a:rPr lang="fr"/>
              <a:t>Protection des données sensibles</a:t>
            </a:r>
            <a:endParaRPr/>
          </a:p>
          <a:p>
            <a:pPr indent="-342900" lvl="0" marL="914400" rtl="0" algn="l">
              <a:spcBef>
                <a:spcPts val="0"/>
              </a:spcBef>
              <a:spcAft>
                <a:spcPts val="0"/>
              </a:spcAft>
              <a:buSzPts val="1800"/>
              <a:buAutoNum type="arabicPeriod"/>
            </a:pPr>
            <a:r>
              <a:rPr lang="fr"/>
              <a:t>Durée de conservation </a:t>
            </a:r>
            <a:endParaRPr/>
          </a:p>
          <a:p>
            <a:pPr indent="-342900" lvl="0" marL="914400" rtl="0" algn="l">
              <a:spcBef>
                <a:spcPts val="0"/>
              </a:spcBef>
              <a:spcAft>
                <a:spcPts val="0"/>
              </a:spcAft>
              <a:buSzPts val="1800"/>
              <a:buAutoNum type="arabicPeriod"/>
            </a:pPr>
            <a:r>
              <a:rPr lang="fr"/>
              <a:t>Sécurité</a:t>
            </a:r>
            <a:endParaRPr/>
          </a:p>
          <a:p>
            <a:pPr indent="-342900" lvl="0" marL="914400" rtl="0" algn="l">
              <a:spcBef>
                <a:spcPts val="0"/>
              </a:spcBef>
              <a:spcAft>
                <a:spcPts val="0"/>
              </a:spcAft>
              <a:buSzPts val="1800"/>
              <a:buAutoNum type="arabicPeriod"/>
            </a:pPr>
            <a:r>
              <a:rPr lang="fr"/>
              <a:t>Transparence à l’égard des personnes</a:t>
            </a:r>
            <a:endParaRPr/>
          </a:p>
          <a:p>
            <a:pPr indent="-342900" lvl="0" marL="914400" rtl="0" algn="l">
              <a:spcBef>
                <a:spcPts val="0"/>
              </a:spcBef>
              <a:spcAft>
                <a:spcPts val="0"/>
              </a:spcAft>
              <a:buClr>
                <a:srgbClr val="9900FF"/>
              </a:buClr>
              <a:buSzPts val="1800"/>
              <a:buAutoNum type="arabicPeriod"/>
            </a:pPr>
            <a:r>
              <a:rPr lang="fr">
                <a:solidFill>
                  <a:srgbClr val="9900FF"/>
                </a:solidFill>
              </a:rPr>
              <a:t>Droits des personnes</a:t>
            </a:r>
            <a:endParaRPr>
              <a:solidFill>
                <a:srgbClr val="9900FF"/>
              </a:solidFill>
            </a:endParaRPr>
          </a:p>
          <a:p>
            <a:pPr indent="-342900" lvl="0" marL="457200" rtl="0" algn="l">
              <a:spcBef>
                <a:spcPts val="0"/>
              </a:spcBef>
              <a:spcAft>
                <a:spcPts val="0"/>
              </a:spcAft>
              <a:buSzPts val="1800"/>
              <a:buAutoNum type="romanUcPeriod"/>
            </a:pPr>
            <a:r>
              <a:rPr lang="fr"/>
              <a:t>Transferts de données hors UE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8. Droits des personnes</a:t>
            </a:r>
            <a:endParaRPr/>
          </a:p>
        </p:txBody>
      </p:sp>
      <p:sp>
        <p:nvSpPr>
          <p:cNvPr id="225" name="Google Shape;225;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personnes ont des droits sur leurs données : </a:t>
            </a:r>
            <a:endParaRPr/>
          </a:p>
          <a:p>
            <a:pPr indent="-342900" lvl="0" marL="457200" rtl="0" algn="l">
              <a:spcBef>
                <a:spcPts val="1200"/>
              </a:spcBef>
              <a:spcAft>
                <a:spcPts val="0"/>
              </a:spcAft>
              <a:buSzPts val="1800"/>
              <a:buChar char="-"/>
            </a:pPr>
            <a:r>
              <a:rPr b="1" lang="fr"/>
              <a:t>Le droit d’accès</a:t>
            </a:r>
            <a:r>
              <a:rPr lang="fr"/>
              <a:t> : permet aux personnes de savoir si des données les concernant sont traitées et d’en obtenir la communication. Permet également de contrôler l’exactitude des données et si nécessaire de les faire rectifier ou effacer.</a:t>
            </a:r>
            <a:endParaRPr/>
          </a:p>
          <a:p>
            <a:pPr indent="-342900" lvl="0" marL="457200" rtl="0" algn="l">
              <a:spcBef>
                <a:spcPts val="0"/>
              </a:spcBef>
              <a:spcAft>
                <a:spcPts val="0"/>
              </a:spcAft>
              <a:buSzPts val="1800"/>
              <a:buChar char="-"/>
            </a:pPr>
            <a:r>
              <a:rPr b="1" lang="fr"/>
              <a:t>Le droit de rectification</a:t>
            </a:r>
            <a:r>
              <a:rPr lang="fr"/>
              <a:t> : permet de corriger des données inexactes ou de compléter des données.</a:t>
            </a:r>
            <a:endParaRPr/>
          </a:p>
          <a:p>
            <a:pPr indent="-342900" lvl="0" marL="457200" rtl="0" algn="l">
              <a:spcBef>
                <a:spcPts val="0"/>
              </a:spcBef>
              <a:spcAft>
                <a:spcPts val="0"/>
              </a:spcAft>
              <a:buSzPts val="1800"/>
              <a:buChar char="-"/>
            </a:pPr>
            <a:r>
              <a:rPr b="1" lang="fr"/>
              <a:t>Le droit d’opposition</a:t>
            </a:r>
            <a:r>
              <a:rPr lang="fr"/>
              <a:t> : permet aux personnes de s’opposer au traitement de leurs données. Peut être exercé à tout moment.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8. Droits des personnes</a:t>
            </a:r>
            <a:endParaRPr/>
          </a:p>
        </p:txBody>
      </p:sp>
      <p:sp>
        <p:nvSpPr>
          <p:cNvPr id="231" name="Google Shape;231;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fr"/>
              <a:t>Le droit à l’effacement (“droit à l’oubli”)</a:t>
            </a:r>
            <a:r>
              <a:rPr lang="fr"/>
              <a:t> : permet aux personnes de demander l’effacement de leurs données auprès d’un organisme.</a:t>
            </a:r>
            <a:endParaRPr/>
          </a:p>
          <a:p>
            <a:pPr indent="-342900" lvl="0" marL="457200" rtl="0" algn="l">
              <a:spcBef>
                <a:spcPts val="0"/>
              </a:spcBef>
              <a:spcAft>
                <a:spcPts val="0"/>
              </a:spcAft>
              <a:buSzPts val="1800"/>
              <a:buChar char="-"/>
            </a:pPr>
            <a:r>
              <a:rPr b="1" lang="fr"/>
              <a:t>Le droit à la portabilité</a:t>
            </a:r>
            <a:r>
              <a:rPr lang="fr"/>
              <a:t> : permet aux personnes de gérer leurs données afin de pouvoir les réutiliser pour un usage personnel. Permet aussi de faciliter la libre circulation des données d’un prestataire à un autre.</a:t>
            </a:r>
            <a:endParaRPr/>
          </a:p>
          <a:p>
            <a:pPr indent="-342900" lvl="0" marL="457200" rtl="0" algn="l">
              <a:spcBef>
                <a:spcPts val="0"/>
              </a:spcBef>
              <a:spcAft>
                <a:spcPts val="0"/>
              </a:spcAft>
              <a:buSzPts val="1800"/>
              <a:buChar char="-"/>
            </a:pPr>
            <a:r>
              <a:rPr b="1" lang="fr"/>
              <a:t>Le droit à la limitation du traitement</a:t>
            </a:r>
            <a:r>
              <a:rPr lang="fr"/>
              <a:t> : permet de geler l’utilisation des données d’une personne dans l’atteinte qu’elle puisse exercer pleinement ses droits.</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solidFill>
                  <a:schemeClr val="dk2"/>
                </a:solidFill>
              </a:rPr>
              <a:t>Grands principes de la protection des données</a:t>
            </a:r>
            <a:endParaRPr>
              <a:solidFill>
                <a:schemeClr val="dk2"/>
              </a:solidFill>
            </a:endParaRPr>
          </a:p>
          <a:p>
            <a:pPr indent="0" lvl="0" marL="0" rtl="0" algn="l">
              <a:spcBef>
                <a:spcPts val="0"/>
              </a:spcBef>
              <a:spcAft>
                <a:spcPts val="0"/>
              </a:spcAft>
              <a:buNone/>
            </a:pPr>
            <a:r>
              <a:t/>
            </a:r>
            <a:endParaRPr/>
          </a:p>
        </p:txBody>
      </p:sp>
      <p:sp>
        <p:nvSpPr>
          <p:cNvPr id="237" name="Google Shape;23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fr"/>
              <a:t>Les 8 règles d’or</a:t>
            </a:r>
            <a:endParaRPr/>
          </a:p>
          <a:p>
            <a:pPr indent="-342900" lvl="0" marL="914400" rtl="0" algn="l">
              <a:spcBef>
                <a:spcPts val="0"/>
              </a:spcBef>
              <a:spcAft>
                <a:spcPts val="0"/>
              </a:spcAft>
              <a:buSzPts val="1800"/>
              <a:buAutoNum type="arabicPeriod"/>
            </a:pPr>
            <a:r>
              <a:rPr lang="fr"/>
              <a:t>Base légale du traitement</a:t>
            </a:r>
            <a:endParaRPr/>
          </a:p>
          <a:p>
            <a:pPr indent="-342900" lvl="0" marL="914400" rtl="0" algn="l">
              <a:spcBef>
                <a:spcPts val="0"/>
              </a:spcBef>
              <a:spcAft>
                <a:spcPts val="0"/>
              </a:spcAft>
              <a:buSzPts val="1800"/>
              <a:buAutoNum type="arabicPeriod"/>
            </a:pPr>
            <a:r>
              <a:rPr lang="fr"/>
              <a:t>Finalité du traitement</a:t>
            </a:r>
            <a:endParaRPr/>
          </a:p>
          <a:p>
            <a:pPr indent="-342900" lvl="0" marL="914400" rtl="0" algn="l">
              <a:spcBef>
                <a:spcPts val="0"/>
              </a:spcBef>
              <a:spcAft>
                <a:spcPts val="0"/>
              </a:spcAft>
              <a:buSzPts val="1800"/>
              <a:buAutoNum type="arabicPeriod"/>
            </a:pPr>
            <a:r>
              <a:rPr lang="fr"/>
              <a:t>Minimisation des données</a:t>
            </a:r>
            <a:endParaRPr/>
          </a:p>
          <a:p>
            <a:pPr indent="-342900" lvl="0" marL="914400" rtl="0" algn="l">
              <a:spcBef>
                <a:spcPts val="0"/>
              </a:spcBef>
              <a:spcAft>
                <a:spcPts val="0"/>
              </a:spcAft>
              <a:buSzPts val="1800"/>
              <a:buAutoNum type="arabicPeriod"/>
            </a:pPr>
            <a:r>
              <a:rPr lang="fr"/>
              <a:t>Protection des données sensibles</a:t>
            </a:r>
            <a:endParaRPr/>
          </a:p>
          <a:p>
            <a:pPr indent="-342900" lvl="0" marL="914400" rtl="0" algn="l">
              <a:spcBef>
                <a:spcPts val="0"/>
              </a:spcBef>
              <a:spcAft>
                <a:spcPts val="0"/>
              </a:spcAft>
              <a:buSzPts val="1800"/>
              <a:buAutoNum type="arabicPeriod"/>
            </a:pPr>
            <a:r>
              <a:rPr lang="fr"/>
              <a:t>Durée de conservation </a:t>
            </a:r>
            <a:endParaRPr/>
          </a:p>
          <a:p>
            <a:pPr indent="-342900" lvl="0" marL="914400" rtl="0" algn="l">
              <a:spcBef>
                <a:spcPts val="0"/>
              </a:spcBef>
              <a:spcAft>
                <a:spcPts val="0"/>
              </a:spcAft>
              <a:buSzPts val="1800"/>
              <a:buAutoNum type="arabicPeriod"/>
            </a:pPr>
            <a:r>
              <a:rPr lang="fr"/>
              <a:t>Sécurité</a:t>
            </a:r>
            <a:endParaRPr/>
          </a:p>
          <a:p>
            <a:pPr indent="-342900" lvl="0" marL="914400" rtl="0" algn="l">
              <a:spcBef>
                <a:spcPts val="0"/>
              </a:spcBef>
              <a:spcAft>
                <a:spcPts val="0"/>
              </a:spcAft>
              <a:buSzPts val="1800"/>
              <a:buAutoNum type="arabicPeriod"/>
            </a:pPr>
            <a:r>
              <a:rPr lang="fr"/>
              <a:t>Transparence à l’égard des personnes</a:t>
            </a:r>
            <a:endParaRPr/>
          </a:p>
          <a:p>
            <a:pPr indent="-342900" lvl="0" marL="914400" rtl="0" algn="l">
              <a:spcBef>
                <a:spcPts val="0"/>
              </a:spcBef>
              <a:spcAft>
                <a:spcPts val="0"/>
              </a:spcAft>
              <a:buSzPts val="1800"/>
              <a:buAutoNum type="arabicPeriod"/>
            </a:pPr>
            <a:r>
              <a:rPr lang="fr"/>
              <a:t>Droits des personnes</a:t>
            </a:r>
            <a:endParaRPr/>
          </a:p>
          <a:p>
            <a:pPr indent="-342900" lvl="0" marL="457200" rtl="0" algn="l">
              <a:spcBef>
                <a:spcPts val="0"/>
              </a:spcBef>
              <a:spcAft>
                <a:spcPts val="0"/>
              </a:spcAft>
              <a:buClr>
                <a:srgbClr val="9900FF"/>
              </a:buClr>
              <a:buSzPts val="1800"/>
              <a:buAutoNum type="romanUcPeriod"/>
            </a:pPr>
            <a:r>
              <a:rPr lang="fr">
                <a:solidFill>
                  <a:srgbClr val="9900FF"/>
                </a:solidFill>
              </a:rPr>
              <a:t>Transferts de données hors UE</a:t>
            </a:r>
            <a:endParaRPr>
              <a:solidFill>
                <a:srgbClr val="9900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Transferts de données hors UE</a:t>
            </a:r>
            <a:endParaRPr/>
          </a:p>
        </p:txBody>
      </p:sp>
      <p:sp>
        <p:nvSpPr>
          <p:cNvPr id="243" name="Google Shape;24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 RGPD permet de générer une bulle de protection autour des données personnelles. </a:t>
            </a:r>
            <a:endParaRPr/>
          </a:p>
          <a:p>
            <a:pPr indent="0" lvl="0" marL="0" rtl="0" algn="l">
              <a:spcBef>
                <a:spcPts val="1200"/>
              </a:spcBef>
              <a:spcAft>
                <a:spcPts val="0"/>
              </a:spcAft>
              <a:buNone/>
            </a:pPr>
            <a:r>
              <a:rPr lang="fr"/>
              <a:t>Cette bulle doit suivre les données, </a:t>
            </a:r>
            <a:r>
              <a:rPr lang="fr"/>
              <a:t>peu importe où elles sont transmises. Les principes du RGPD doivent donc être respectés par tous les destinataires successifs des données.</a:t>
            </a:r>
            <a:endParaRPr/>
          </a:p>
          <a:p>
            <a:pPr indent="0" lvl="0" marL="0" rtl="0" algn="l">
              <a:spcBef>
                <a:spcPts val="1200"/>
              </a:spcBef>
              <a:spcAft>
                <a:spcPts val="1200"/>
              </a:spcAft>
              <a:buNone/>
            </a:pPr>
            <a:r>
              <a:rPr b="1" lang="fr">
                <a:solidFill>
                  <a:srgbClr val="9900FF"/>
                </a:solidFill>
              </a:rPr>
              <a:t>Pour pouvoir transférer des données hors de l’UE, les responsables de traitement et leurs sous-traitants doivent assurer aux données un niveau de protection équivalent à celui garanti dans l’UE.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pays “adéquats” et “non adéquats”</a:t>
            </a:r>
            <a:endParaRPr/>
          </a:p>
        </p:txBody>
      </p:sp>
      <p:sp>
        <p:nvSpPr>
          <p:cNvPr id="249" name="Google Shape;249;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t>Les transferts de données vers des pays dits “adéquats” ne nécessitent pas d’encadrement ni d’autorisation spécifique.</a:t>
            </a:r>
            <a:r>
              <a:rPr lang="fr"/>
              <a:t> </a:t>
            </a:r>
            <a:endParaRPr/>
          </a:p>
          <a:p>
            <a:pPr indent="0" lvl="0" marL="0" rtl="0" algn="l">
              <a:spcBef>
                <a:spcPts val="1200"/>
              </a:spcBef>
              <a:spcAft>
                <a:spcPts val="0"/>
              </a:spcAft>
              <a:buNone/>
            </a:pPr>
            <a:r>
              <a:rPr lang="fr"/>
              <a:t>Les pays adéquats offrent un niveau de protection équivalent à celui de l’UE. Ces pays sont : Andorre, Argentine, Suisse, Îles Féroé, Guernesey, Israël, Île de Man, Jersey, Nouvelle Zélande, Royaume-Uni, Uruguay, Japon.</a:t>
            </a:r>
            <a:endParaRPr/>
          </a:p>
          <a:p>
            <a:pPr indent="0" lvl="0" marL="0" rtl="0" algn="l">
              <a:spcBef>
                <a:spcPts val="1200"/>
              </a:spcBef>
              <a:spcAft>
                <a:spcPts val="0"/>
              </a:spcAft>
              <a:buNone/>
            </a:pPr>
            <a:r>
              <a:rPr b="1" lang="fr"/>
              <a:t>Concernant les pays non adéquats, il n’est possible d’y effectuer des transferts que sous certaines conditions.</a:t>
            </a:r>
            <a:endParaRPr b="1"/>
          </a:p>
          <a:p>
            <a:pPr indent="0" lvl="0" marL="0" rtl="0" algn="l">
              <a:spcBef>
                <a:spcPts val="1200"/>
              </a:spcBef>
              <a:spcAft>
                <a:spcPts val="1200"/>
              </a:spcAft>
              <a:buNone/>
            </a:pPr>
            <a:r>
              <a:rPr lang="fr"/>
              <a:t>Carte : </a:t>
            </a:r>
            <a:r>
              <a:rPr lang="fr" u="sng">
                <a:solidFill>
                  <a:schemeClr val="hlink"/>
                </a:solidFill>
                <a:hlinkClick r:id="rId3"/>
              </a:rPr>
              <a:t>https://www.cnil.fr/fr/la-protection-des-donnees-dans-le-monde</a:t>
            </a:r>
            <a:r>
              <a:rPr lang="f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6"/>
          <p:cNvSpPr txBox="1"/>
          <p:nvPr>
            <p:ph type="title"/>
          </p:nvPr>
        </p:nvSpPr>
        <p:spPr>
          <a:xfrm>
            <a:off x="311700" y="445025"/>
            <a:ext cx="8520600" cy="86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Information des personnes dans le cadre de transferts de données hors UE</a:t>
            </a:r>
            <a:endParaRPr/>
          </a:p>
        </p:txBody>
      </p:sp>
      <p:sp>
        <p:nvSpPr>
          <p:cNvPr id="255" name="Google Shape;255;p46"/>
          <p:cNvSpPr txBox="1"/>
          <p:nvPr>
            <p:ph idx="1" type="body"/>
          </p:nvPr>
        </p:nvSpPr>
        <p:spPr>
          <a:xfrm>
            <a:off x="311700" y="1437700"/>
            <a:ext cx="8520600" cy="313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transferts de données ainsi que leur encadrement doivent figurer dans la mention d’information des personnes concernées (pour les traitements effectués par le responsable de traitement et ses éventuels sous-traitants).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fr"/>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Que risque-t-on en cas de manquement au RGPD ?</a:t>
            </a:r>
            <a:endParaRPr/>
          </a:p>
        </p:txBody>
      </p:sp>
      <p:sp>
        <p:nvSpPr>
          <p:cNvPr id="261" name="Google Shape;261;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rgbClr val="9900FF"/>
                </a:solidFill>
              </a:rPr>
              <a:t>J</a:t>
            </a:r>
            <a:r>
              <a:rPr b="1" lang="fr">
                <a:solidFill>
                  <a:srgbClr val="9900FF"/>
                </a:solidFill>
              </a:rPr>
              <a:t>usqu'à 20 millions d'euros ou jusqu'à 4 % du chiffre d'affaires annuel mondial dans le cas d’une entreprise. Ces sanctions peuvent être rendues publiques.</a:t>
            </a:r>
            <a:endParaRPr b="1">
              <a:solidFill>
                <a:srgbClr val="9900FF"/>
              </a:solidFil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fr"/>
              <a:t>Cookies : la CNIL sanctionne Google à hauteur 100 millions d’euros</a:t>
            </a:r>
            <a:endParaRPr/>
          </a:p>
          <a:p>
            <a:pPr indent="0" lvl="0" marL="0" rtl="0" algn="l">
              <a:spcBef>
                <a:spcPts val="1200"/>
              </a:spcBef>
              <a:spcAft>
                <a:spcPts val="1200"/>
              </a:spcAft>
              <a:buNone/>
            </a:pPr>
            <a:r>
              <a:rPr lang="fr" u="sng">
                <a:solidFill>
                  <a:schemeClr val="hlink"/>
                </a:solidFill>
                <a:hlinkClick r:id="rId3"/>
              </a:rPr>
              <a:t>https://www.cnil.fr/fr/cookies-sanction-de-60-millions-deuros-lencontre-de-google-llc-et-de-40-millions-deuros-lencontre-de</a:t>
            </a:r>
            <a:r>
              <a:rPr lang="fr"/>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